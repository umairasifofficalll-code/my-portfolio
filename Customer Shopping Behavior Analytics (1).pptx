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6" Type="http://schemas.openxmlformats.org/officeDocument/2006/relationships/image" Target="../media/image32.png"/><Relationship Id="rId17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4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Relationship Id="rId18" Type="http://schemas.openxmlformats.org/officeDocument/2006/relationships/image" Target="../media/image66.png"/><Relationship Id="rId19" Type="http://schemas.openxmlformats.org/officeDocument/2006/relationships/image" Target="../media/image67.png"/><Relationship Id="rId20" Type="http://schemas.openxmlformats.org/officeDocument/2006/relationships/image" Target="../media/image68.png"/><Relationship Id="rId21" Type="http://schemas.openxmlformats.org/officeDocument/2006/relationships/image" Target="../media/image69.png"/><Relationship Id="rId22" Type="http://schemas.openxmlformats.org/officeDocument/2006/relationships/image" Target="../media/image7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Relationship Id="rId18" Type="http://schemas.openxmlformats.org/officeDocument/2006/relationships/image" Target="../media/image11.png"/><Relationship Id="rId19" Type="http://schemas.openxmlformats.org/officeDocument/2006/relationships/image" Target="../media/image12.png"/><Relationship Id="rId20" Type="http://schemas.openxmlformats.org/officeDocument/2006/relationships/image" Target="../media/image89.png"/><Relationship Id="rId21" Type="http://schemas.openxmlformats.org/officeDocument/2006/relationships/image" Target="../media/image90.png"/><Relationship Id="rId22" Type="http://schemas.openxmlformats.org/officeDocument/2006/relationships/image" Target="../media/image91.png"/><Relationship Id="rId23" Type="http://schemas.openxmlformats.org/officeDocument/2006/relationships/image" Target="../media/image92.png"/><Relationship Id="rId24" Type="http://schemas.openxmlformats.org/officeDocument/2006/relationships/image" Target="../media/image93.png"/><Relationship Id="rId25" Type="http://schemas.openxmlformats.org/officeDocument/2006/relationships/image" Target="../media/image94.png"/><Relationship Id="rId26" Type="http://schemas.openxmlformats.org/officeDocument/2006/relationships/image" Target="../media/image9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4409926"/>
            <a:ext cx="3867150" cy="666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193" y="2507009"/>
            <a:ext cx="1972865" cy="8553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409" y="2507009"/>
            <a:ext cx="1972865" cy="8553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6193" y="3495675"/>
            <a:ext cx="1972865" cy="85531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2409" y="3495675"/>
            <a:ext cx="1972865" cy="85531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4533751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6725" y="2257573"/>
            <a:ext cx="7138392" cy="1040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b="1" sz="3900" i="0" u="none">
                <a:solidFill>
                  <a:srgbClr val="F8FAFC"/>
                </a:solidFill>
                <a:latin typeface="Outfit"/>
              </a:rPr>
              <a:t>Customer Shopping Behavior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449984"/>
            <a:ext cx="59055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An end-to-end data analytics pipeline evaluating 3,900 verified transactions to uncover high-impact customer acquisition targets, loyalty monetization opportunities, and margin protection rules.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725" y="1781323"/>
            <a:ext cx="1533525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0" y="1781323"/>
            <a:ext cx="2000250" cy="285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0" y="1781323"/>
            <a:ext cx="2362200" cy="2857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19200" y="4552801"/>
            <a:ext cx="291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Lead Data Analyst • Retail Analytics &amp; BI Specialization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6218" y="2707034"/>
            <a:ext cx="157281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2100" i="0" u="none">
                <a:solidFill>
                  <a:srgbClr val="FFFFFF"/>
                </a:solidFill>
                <a:latin typeface="Outfit Black"/>
              </a:rPr>
              <a:t>3,900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6218" y="3038475"/>
            <a:ext cx="157281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ANALYZED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2434" y="2707034"/>
            <a:ext cx="157281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2100" i="0" u="none">
                <a:solidFill>
                  <a:srgbClr val="FFFFFF"/>
                </a:solidFill>
                <a:latin typeface="Outfit Black"/>
              </a:rPr>
              <a:t>$233,081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2434" y="3038475"/>
            <a:ext cx="157281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NET PIPELINE 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6218" y="3695700"/>
            <a:ext cx="157281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2100" i="0" u="none">
                <a:solidFill>
                  <a:srgbClr val="FFFFFF"/>
                </a:solidFill>
                <a:latin typeface="Outfit Black"/>
              </a:rPr>
              <a:t>10 Queries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6218" y="4027140"/>
            <a:ext cx="157281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SQL HYPOTHESES TESTED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2434" y="3695700"/>
            <a:ext cx="157281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2100" i="0" u="none">
                <a:solidFill>
                  <a:srgbClr val="FFFFFF"/>
                </a:solidFill>
                <a:latin typeface="Outfit Black"/>
              </a:rPr>
              <a:t>79.9%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2434" y="4027140"/>
            <a:ext cx="157281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LOYAL REPEAT SHOPPERS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1867048"/>
            <a:ext cx="104775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38375" y="1867048"/>
            <a:ext cx="104775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33875" y="1867048"/>
            <a:ext cx="133350" cy="1143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19200" y="4552801"/>
            <a:ext cx="306038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Outfit"/>
              </a:rPr>
              <a:t>Umair Asif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312789"/>
            <a:ext cx="5514975" cy="28039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312789"/>
            <a:ext cx="5514975" cy="28039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7310" y="428625"/>
            <a:ext cx="1807964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9175" y="2569964"/>
            <a:ext cx="496062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Outfit"/>
              </a:rPr>
              <a:t>3-Tier Enterprise Data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2903339"/>
            <a:ext cx="50387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Standardized raw unstructured retail records into actionable commercial strategy: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2569964"/>
            <a:ext cx="5010626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Outfit"/>
              </a:rPr>
              <a:t>Core Business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2903339"/>
            <a:ext cx="5038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Focused on solving high-friction retail dilemmas identified in transactional logs: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2593776"/>
            <a:ext cx="21907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3474839"/>
            <a:ext cx="48291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CBD5E1"/>
                </a:solidFill>
                <a:latin typeface="Plus Jakarta Sans"/>
              </a:rPr>
              <a:t>Data Preprocessing (Python):</a:t>
            </a:r>
            <a:r>
              <a:rPr b="0" sz="1012" i="0" u="none">
                <a:solidFill>
                  <a:srgbClr val="CBD5E1"/>
                </a:solidFill>
                <a:latin typeface="Plus Jakarta Sans"/>
              </a:rPr>
              <a:t> Null imputation, column normalization, multicollinearity elimination, and quantile discretization.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42754"/>
            <a:ext cx="48291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CBD5E1"/>
                </a:solidFill>
                <a:latin typeface="Plus Jakarta Sans"/>
              </a:rPr>
              <a:t>Relational Intelligence (MySQL):</a:t>
            </a:r>
            <a:r>
              <a:rPr b="0" sz="1012" i="0" u="none">
                <a:solidFill>
                  <a:srgbClr val="CBD5E1"/>
                </a:solidFill>
                <a:latin typeface="Plus Jakarta Sans"/>
              </a:rPr>
              <a:t> Executed 10 hypothesis tests covering demographic spend, promo codes, and frequency.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10670"/>
            <a:ext cx="48291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CBD5E1"/>
                </a:solidFill>
                <a:latin typeface="Plus Jakarta Sans"/>
              </a:rPr>
              <a:t>Executive BI (Power BI):</a:t>
            </a:r>
            <a:r>
              <a:rPr b="0" sz="1012" i="0" u="none">
                <a:solidFill>
                  <a:srgbClr val="CBD5E1"/>
                </a:solidFill>
                <a:latin typeface="Plus Jakarta Sans"/>
              </a:rPr>
              <a:t> Built an interactive operational cockpit with multi-dimensional slicing and revenue drilldowns.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593776"/>
            <a:ext cx="171450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57975" y="3274814"/>
            <a:ext cx="48291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CBD5E1"/>
                </a:solidFill>
                <a:latin typeface="Plus Jakarta Sans"/>
              </a:rPr>
              <a:t>Monetize 2,518 Repeat Shoppers:</a:t>
            </a:r>
            <a:r>
              <a:rPr b="0" sz="1012" i="0" u="none">
                <a:solidFill>
                  <a:srgbClr val="CBD5E1"/>
                </a:solidFill>
                <a:latin typeface="Plus Jakarta Sans"/>
              </a:rPr>
              <a:t> 72.4% of loyal buyers have no active subscription.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7975" y="3742729"/>
            <a:ext cx="48291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CBD5E1"/>
                </a:solidFill>
                <a:latin typeface="Plus Jakarta Sans"/>
              </a:rPr>
              <a:t>Protect Gross Margins:</a:t>
            </a:r>
            <a:r>
              <a:rPr b="0" sz="1012" i="0" u="none">
                <a:solidFill>
                  <a:srgbClr val="CBD5E1"/>
                </a:solidFill>
                <a:latin typeface="Plus Jakarta Sans"/>
              </a:rPr>
              <a:t> 50% of hats &amp; footwear sell on discount; establish minimum basket sizes.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7975" y="4210645"/>
            <a:ext cx="4829175" cy="372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CBD5E1"/>
                </a:solidFill>
                <a:latin typeface="Plus Jakarta Sans"/>
              </a:rPr>
              <a:t>Safety Stock Allocation:</a:t>
            </a:r>
            <a:r>
              <a:rPr b="0" sz="1012" i="0" u="none">
                <a:solidFill>
                  <a:srgbClr val="CBD5E1"/>
                </a:solidFill>
                <a:latin typeface="Plus Jakarta Sans"/>
              </a:rPr>
              <a:t> Prioritize high-velocity items (Blouses, Pants, Jewelry, Sandals).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850" y="3474839"/>
            <a:ext cx="95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818CF8"/>
                </a:solidFill>
                <a:latin typeface="Plus Jakarta Sans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50" y="3942754"/>
            <a:ext cx="95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818CF8"/>
                </a:solidFill>
                <a:latin typeface="Plus Jakarta Sans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50" y="4410670"/>
            <a:ext cx="95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818CF8"/>
                </a:solidFill>
                <a:latin typeface="Plus Jakarta Sans"/>
              </a:rPr>
              <a:t>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8425" y="3274814"/>
            <a:ext cx="95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2DD4BF"/>
                </a:solidFill>
                <a:latin typeface="Plus Jakarta Sans"/>
              </a:rPr>
              <a:t>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8425" y="3742729"/>
            <a:ext cx="95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2DD4BF"/>
                </a:solidFill>
                <a:latin typeface="Plus Jakarta Sans"/>
              </a:rPr>
              <a:t>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8425" y="4210645"/>
            <a:ext cx="95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2DD4BF"/>
                </a:solidFill>
                <a:latin typeface="Plus Jakarta Sans"/>
              </a:rPr>
              <a:t>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Architecture &amp; 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524125"/>
            <a:ext cx="5543550" cy="1104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2524125"/>
            <a:ext cx="5543550" cy="1104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3800475"/>
            <a:ext cx="5543550" cy="1104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3800475"/>
            <a:ext cx="5543550" cy="1104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1725" y="428625"/>
            <a:ext cx="17335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2724150"/>
            <a:ext cx="438150" cy="4381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0" y="2724150"/>
            <a:ext cx="438150" cy="4381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" y="4000500"/>
            <a:ext cx="438150" cy="4381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4000500"/>
            <a:ext cx="438150" cy="4381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150" y="2852737"/>
            <a:ext cx="133350" cy="1809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7300" y="2724150"/>
            <a:ext cx="478059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Outfit"/>
              </a:rPr>
              <a:t>Category-Median Imputation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2952750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Imputed 37 missing ratings in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Review Rating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using category-specific medians, protecting the natural statistical variance.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0337" y="2852737"/>
            <a:ext cx="180975" cy="1809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72300" y="2724150"/>
            <a:ext cx="478059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Outfit"/>
              </a:rPr>
              <a:t>Schema Standardization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2300" y="2952750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Mapped all column names into clean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snake_case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(e.g.,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purchase_amount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) for automated relational MySQL ingestion.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812" y="4129087"/>
            <a:ext cx="200025" cy="1809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57300" y="4000500"/>
            <a:ext cx="478059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BBF24"/>
                </a:solidFill>
                <a:latin typeface="Outfit"/>
              </a:rPr>
              <a:t>Multicollinearity Removal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7300" y="4229100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Proved 100% equivalence between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discount_applied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and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promo_code_used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and safely dropped redundant features.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00812" y="4129087"/>
            <a:ext cx="200025" cy="1809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72300" y="4000500"/>
            <a:ext cx="478059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084FC"/>
                </a:solidFill>
                <a:latin typeface="Outfit"/>
              </a:rPr>
              <a:t>Age &amp; Cadence Discretization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2300" y="4229100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Grouped ages into 4 balanced quartiles and converted qualitative cadences into exact numeric day intervals (Weekly = 7, Monthly = 30).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Python Preprocessing &amp; Feature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832496"/>
            <a:ext cx="11258550" cy="23360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032521"/>
            <a:ext cx="6144964" cy="19359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164" y="3032521"/>
            <a:ext cx="4541936" cy="193595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5089" y="4139803"/>
            <a:ext cx="2061418" cy="666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1757" y="4139803"/>
            <a:ext cx="2061418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97305" y="428625"/>
            <a:ext cx="2327969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725" y="2260996"/>
            <a:ext cx="11258550" cy="4381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2418159"/>
            <a:ext cx="152400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33650" y="2418159"/>
            <a:ext cx="14287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2418159"/>
            <a:ext cx="12382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2418159"/>
            <a:ext cx="12382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8675" y="3432571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1" sz="937" i="0" u="none">
                <a:solidFill>
                  <a:srgbClr val="38BDF8"/>
                </a:solidFill>
                <a:latin typeface="JetBrains Mono"/>
              </a:rPr>
              <a:t>SELECT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71675" y="3432571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0" u="none">
                <a:solidFill>
                  <a:srgbClr val="F472B6"/>
                </a:solidFill>
                <a:latin typeface="JetBrains Mono SemiBold"/>
              </a:rPr>
              <a:t>SUM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1875" y="3432571"/>
            <a:ext cx="152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1" sz="937" i="0" u="none">
                <a:solidFill>
                  <a:srgbClr val="38BDF8"/>
                </a:solidFill>
                <a:latin typeface="JetBrains Mono"/>
              </a:rPr>
              <a:t>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0075" y="3432571"/>
            <a:ext cx="304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1" sz="937" i="0" u="none">
                <a:solidFill>
                  <a:srgbClr val="38BDF8"/>
                </a:solidFill>
                <a:latin typeface="JetBrains Mono"/>
              </a:rPr>
              <a:t>FROM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7075" y="3611165"/>
            <a:ext cx="609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1" sz="937" i="0" u="none">
                <a:solidFill>
                  <a:srgbClr val="38BDF8"/>
                </a:solidFill>
                <a:latin typeface="JetBrains Mono"/>
              </a:rPr>
              <a:t>GROUP BY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" y="3611165"/>
            <a:ext cx="5791200" cy="3405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1" u="none">
                <a:solidFill>
                  <a:srgbClr val="64748B"/>
                </a:solidFill>
                <a:latin typeface="JetBrains Mono"/>
              </a:rPr>
              <a:t>-- Male: $157,890 (67.7%) | Female: $75,191 (32.3%)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5089" y="3194446"/>
            <a:ext cx="442899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Outfit"/>
              </a:rPr>
              <a:t>Gender Sales Distribution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45089" y="3413521"/>
            <a:ext cx="4218086" cy="535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b="0" sz="937" i="0" u="none">
                <a:solidFill>
                  <a:srgbClr val="94A3B8"/>
                </a:solidFill>
                <a:latin typeface="Plus Jakarta Sans"/>
              </a:rPr>
              <a:t>Male customers generate the vast majority of volume ($157.9K). Targeted female acquisition campaigns represent the largest untapped expansion opportunity.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8914" y="4263628"/>
            <a:ext cx="181376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Outfit ExtraBold"/>
              </a:rPr>
              <a:t>$157.9K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8914" y="4558903"/>
            <a:ext cx="1813768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87" i="0" u="none">
                <a:solidFill>
                  <a:srgbClr val="94A3B8"/>
                </a:solidFill>
                <a:latin typeface="Plus Jakarta Sans SemiBold"/>
              </a:rPr>
              <a:t>MALE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5582" y="4263628"/>
            <a:ext cx="181376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F472B6"/>
                </a:solidFill>
                <a:latin typeface="Outfit ExtraBold"/>
              </a:rPr>
              <a:t>$75.2K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5582" y="4558903"/>
            <a:ext cx="1813768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87" i="0" u="none">
                <a:solidFill>
                  <a:srgbClr val="94A3B8"/>
                </a:solidFill>
                <a:latin typeface="Plus Jakarta Sans SemiBold"/>
              </a:rPr>
              <a:t>FEMALE REVENUE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Interactive SQL Business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942975"/>
            <a:ext cx="11258550" cy="5543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7310" y="428625"/>
            <a:ext cx="1807964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4657725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450" y="4557712"/>
            <a:ext cx="106108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FECDD3"/>
                </a:solidFill>
                <a:latin typeface="Plus Jakarta Sans"/>
              </a:rPr>
              <a:t>Margin Threat Identified (SQL Q2):</a:t>
            </a:r>
            <a:r>
              <a:rPr b="0" sz="975" i="0" u="none">
                <a:solidFill>
                  <a:srgbClr val="FECDD3"/>
                </a:solidFill>
                <a:latin typeface="Plus Jakarta Sans"/>
              </a:rPr>
              <a:t> High-value shoppers spend up to $97 per transaction even with discounts applied. Establishing a strict </a:t>
            </a:r>
            <a:r>
              <a:rPr b="1" sz="975" i="0" u="none">
                <a:solidFill>
                  <a:srgbClr val="FECDD3"/>
                </a:solidFill>
                <a:latin typeface="Plus Jakarta Sans"/>
              </a:rPr>
              <a:t>$65+ cart minimum</a:t>
            </a:r>
            <a:r>
              <a:rPr b="0" sz="975" i="0" u="none">
                <a:solidFill>
                  <a:srgbClr val="FECDD3"/>
                </a:solidFill>
                <a:latin typeface="Plus Jakarta Sans"/>
              </a:rPr>
              <a:t> for coupon eligibility protects profitability without suppressing conversion.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Product Discount Utilization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181225"/>
            <a:ext cx="5514975" cy="3067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181225"/>
            <a:ext cx="5514975" cy="3067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5537" y="3036093"/>
            <a:ext cx="165735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5990" y="428625"/>
            <a:ext cx="1659284" cy="247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64067" y="3874293"/>
            <a:ext cx="232029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Outfit"/>
              </a:rPr>
              <a:t>Loyal Shoppers (&gt;10 Orders)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337" y="4131468"/>
            <a:ext cx="25717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C084FC"/>
                </a:solidFill>
                <a:latin typeface="Plus Jakarta Sans"/>
              </a:rPr>
              <a:t>Representing 79.9% of Total Customer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0" y="2419350"/>
            <a:ext cx="496062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Outfit"/>
              </a:rPr>
              <a:t>High-Retention Retail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2752725"/>
            <a:ext cx="50387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SQL Q7 confirms exceptional repeat buyer stickiness with minimal one-off transactional churn: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48425" y="3324225"/>
          <a:ext cx="5029198" cy="1685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76064"/>
                <a:gridCol w="1750367"/>
                <a:gridCol w="957560"/>
                <a:gridCol w="945207"/>
              </a:tblGrid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Segment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Threshold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Share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Loyal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&gt; 10 Purchases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3,116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4D399"/>
                          </a:solidFill>
                          <a:latin typeface="Plus Jakarta Sans"/>
                        </a:rPr>
                        <a:t>79.9%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Returning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2 to 10 Purchases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701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BBF24"/>
                          </a:solidFill>
                          <a:latin typeface="Plus Jakarta Sans"/>
                        </a:rPr>
                        <a:t>18.0%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482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New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1 Purchase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83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472B6"/>
                          </a:solidFill>
                          <a:latin typeface="Plus Jakarta Sans"/>
                        </a:rPr>
                        <a:t>2.1%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443162"/>
            <a:ext cx="219075" cy="1714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453187" y="3681412"/>
            <a:ext cx="13760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29252" y="3681412"/>
            <a:ext cx="17503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79619" y="3681412"/>
            <a:ext cx="9575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37180" y="3681412"/>
            <a:ext cx="9452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53187" y="4119562"/>
            <a:ext cx="13760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29252" y="4119562"/>
            <a:ext cx="17503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9619" y="4119562"/>
            <a:ext cx="9575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37180" y="4119562"/>
            <a:ext cx="9452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3187" y="4557712"/>
            <a:ext cx="13760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29252" y="4557712"/>
            <a:ext cx="17503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79619" y="4557712"/>
            <a:ext cx="9575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37180" y="4557712"/>
            <a:ext cx="9452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53187" y="4995862"/>
            <a:ext cx="13760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29252" y="4995862"/>
            <a:ext cx="175036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79619" y="4995862"/>
            <a:ext cx="95756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37180" y="4995862"/>
            <a:ext cx="94520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0350" y="3810000"/>
            <a:ext cx="476250" cy="2000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0350" y="4248150"/>
            <a:ext cx="723900" cy="2000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0350" y="4686300"/>
            <a:ext cx="447675" cy="2000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Customer Segmentation Breakdown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1238250"/>
            <a:ext cx="11258550" cy="495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1400175"/>
            <a:ext cx="2095500" cy="4629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550" y="1400175"/>
            <a:ext cx="8686800" cy="4629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6550" y="1400175"/>
            <a:ext cx="2819400" cy="638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0" y="1400175"/>
            <a:ext cx="2819400" cy="638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3950" y="1400175"/>
            <a:ext cx="2819400" cy="638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5835" y="428625"/>
            <a:ext cx="2179439" cy="2476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9254" y="1543050"/>
            <a:ext cx="1642020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 ExtraBold"/>
              </a:rPr>
              <a:t>GENDER SLICER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779" y="2828925"/>
            <a:ext cx="1632495" cy="123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 ExtraBold"/>
              </a:rPr>
              <a:t>SUBSCRIPTION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1552575"/>
            <a:ext cx="110579" cy="1047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2838450"/>
            <a:ext cx="120104" cy="10477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267200" y="1409700"/>
            <a:ext cx="38100" cy="6191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19425" y="1538287"/>
            <a:ext cx="361950" cy="3619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200900" y="1409700"/>
            <a:ext cx="38100" cy="6191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3125" y="1538287"/>
            <a:ext cx="361950" cy="36195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0134600" y="1409700"/>
            <a:ext cx="38100" cy="6191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86825" y="1538287"/>
            <a:ext cx="361950" cy="3619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05150" y="1643062"/>
            <a:ext cx="190500" cy="152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95675" y="1524000"/>
            <a:ext cx="9620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lus Jakarta Sans ExtraBold"/>
              </a:rPr>
              <a:t>3,900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5675" y="1790700"/>
            <a:ext cx="9620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87" i="0" u="none">
                <a:solidFill>
                  <a:srgbClr val="94A3B8"/>
                </a:solidFill>
                <a:latin typeface="Plus Jakarta Sans SemiBold"/>
              </a:rPr>
              <a:t>TOTAL CUSTOMERS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86475" y="1643062"/>
            <a:ext cx="95250" cy="152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29375" y="1524000"/>
            <a:ext cx="9429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lus Jakarta Sans ExtraBold"/>
              </a:rPr>
              <a:t>$233,081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9375" y="1790700"/>
            <a:ext cx="9429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87" i="0" u="none">
                <a:solidFill>
                  <a:srgbClr val="94A3B8"/>
                </a:solidFill>
                <a:latin typeface="Plus Jakarta Sans SemiBold"/>
              </a:rPr>
              <a:t>GROSS REVENUE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82075" y="1643062"/>
            <a:ext cx="171450" cy="152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63075" y="1524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Plus Jakarta Sans ExtraBold"/>
              </a:rPr>
              <a:t>$59.76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075" y="1790700"/>
            <a:ext cx="8572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87" i="0" u="none">
                <a:solidFill>
                  <a:srgbClr val="94A3B8"/>
                </a:solidFill>
                <a:latin typeface="Plus Jakarta Sans SemiBold"/>
              </a:rPr>
              <a:t>AVERAGE BASKET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Interactive Power BI Executive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371725"/>
            <a:ext cx="11258550" cy="2686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609850"/>
            <a:ext cx="5276850" cy="2209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3257550"/>
            <a:ext cx="4819650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4171950"/>
            <a:ext cx="48196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1725" y="428625"/>
            <a:ext cx="1733550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4850" y="2609850"/>
            <a:ext cx="55406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FFFFFF"/>
                </a:solidFill>
                <a:latin typeface="Outfit"/>
              </a:rPr>
              <a:t>Monetize 2,518 Repeat Buyers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" y="2895600"/>
            <a:ext cx="5276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72.4% of loyal repeat customers (&gt;5 orders) have no active subscription. Adjust the target conversion rate to project annual recurring VIP revenue: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900" y="3000375"/>
            <a:ext cx="4819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62" i="0" u="none">
                <a:solidFill>
                  <a:srgbClr val="34D399"/>
                </a:solidFill>
                <a:latin typeface="Plus Jakarta Sans ExtraBold"/>
              </a:rPr>
              <a:t>PROJECTED NET NEW ARR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900" y="3886200"/>
            <a:ext cx="4819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Plus Jakarta Sans SemiBold"/>
              </a:rPr>
              <a:t>From </a:t>
            </a:r>
            <a:r>
              <a:rPr b="0" sz="1050" i="0" u="none">
                <a:solidFill>
                  <a:srgbClr val="38BDF8"/>
                </a:solidFill>
                <a:latin typeface="Plus Jakarta Sans Black"/>
              </a:rPr>
              <a:t>378</a:t>
            </a:r>
            <a:r>
              <a:rPr b="0" sz="1050" i="0" u="none">
                <a:solidFill>
                  <a:srgbClr val="FFFFFF"/>
                </a:solidFill>
                <a:latin typeface="Plus Jakarta Sans SemiBold"/>
              </a:rPr>
              <a:t> Converted VIP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3429000"/>
            <a:ext cx="52768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VIP Conversion Rate:</a:t>
            </a:r>
            <a:r>
              <a:rPr b="1" sz="1200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38BDF8"/>
                </a:solidFill>
                <a:latin typeface="Plus Jakarta Sans ExtraBold"/>
              </a:rP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" y="3990975"/>
            <a:ext cx="52768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SemiBold"/>
              </a:rPr>
              <a:t>5% (Conservative)</a:t>
            </a:r>
            <a:r>
              <a:rPr b="0" sz="825" i="0" u="none">
                <a:solidFill>
                  <a:srgbClr val="64748B"/>
                </a:solidFill>
                <a:latin typeface="Plus Jakarta Sans SemiBold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Plus Jakarta Sans SemiBold"/>
              </a:rPr>
              <a:t>25% (Target)</a:t>
            </a:r>
            <a:r>
              <a:rPr b="0" sz="825" i="0" u="none">
                <a:solidFill>
                  <a:srgbClr val="64748B"/>
                </a:solidFill>
                <a:latin typeface="Plus Jakarta Sans SemiBold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Plus Jakarta Sans SemiBold"/>
              </a:rPr>
              <a:t>50% (Aggressive)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725" y="4419600"/>
            <a:ext cx="123825" cy="11906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62100" y="4391025"/>
            <a:ext cx="13620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37" i="0" u="none">
                <a:solidFill>
                  <a:srgbClr val="CBD5E1"/>
                </a:solidFill>
                <a:latin typeface="Plus Jakarta Sans"/>
              </a:rPr>
              <a:t>$60/yr VIP Membership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4925" y="4276725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37" i="0" u="none">
                <a:solidFill>
                  <a:srgbClr val="FFFFFF"/>
                </a:solidFill>
                <a:latin typeface="Plus Jakarta Sans"/>
              </a:rPr>
              <a:t>1,431 Shoppers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Interactive Loyalty Conversion Calculator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495550"/>
            <a:ext cx="3651200" cy="1790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325" y="2495550"/>
            <a:ext cx="3651200" cy="1790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3925" y="2495550"/>
            <a:ext cx="3651349" cy="1790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971800"/>
            <a:ext cx="3289250" cy="314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381375"/>
            <a:ext cx="3289250" cy="314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790950"/>
            <a:ext cx="3289250" cy="314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1300" y="2971800"/>
            <a:ext cx="3289250" cy="3143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1300" y="3381375"/>
            <a:ext cx="3289250" cy="3143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1300" y="3790950"/>
            <a:ext cx="3289250" cy="3143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4900" y="2971800"/>
            <a:ext cx="3289399" cy="3143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4900" y="3381375"/>
            <a:ext cx="3289399" cy="3143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4900" y="3790950"/>
            <a:ext cx="3289399" cy="3143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68780" y="428625"/>
            <a:ext cx="1956494" cy="247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6725" y="4438650"/>
            <a:ext cx="11258550" cy="495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7700" y="4600575"/>
            <a:ext cx="5372100" cy="1714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Plus Jakarta Sans"/>
              </a:rPr>
              <a:t>Top Rated SKUs (SQL Q3):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Gloves (3.86★), Sandals (3.84★), Boots (3.82★), Hat (3.80★)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33545" y="4562475"/>
            <a:ext cx="1510754" cy="2476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7700" y="2695575"/>
            <a:ext cx="3453712" cy="18097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18CF8"/>
                </a:solidFill>
                <a:latin typeface="Outfit"/>
              </a:rPr>
              <a:t>Clothing Volume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1300" y="2695575"/>
            <a:ext cx="3453712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Outfit"/>
              </a:rPr>
              <a:t>Accessories Volume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4900" y="2695575"/>
            <a:ext cx="3453869" cy="18097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472B6"/>
                </a:solidFill>
                <a:latin typeface="Outfit"/>
              </a:rPr>
              <a:t>Footwear Volume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" y="4619625"/>
            <a:ext cx="142875" cy="1238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" y="2714625"/>
            <a:ext cx="1809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51300" y="2714625"/>
            <a:ext cx="14287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54900" y="2714625"/>
            <a:ext cx="180975" cy="1428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Top Products &amp; SKU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38" y="6457950"/>
            <a:ext cx="190500" cy="66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4307681"/>
            <a:ext cx="11258550" cy="7667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2355056"/>
            <a:ext cx="3638550" cy="1762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725" y="2355056"/>
            <a:ext cx="3638550" cy="1762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725" y="2355056"/>
            <a:ext cx="3638550" cy="1762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1778" y="6296025"/>
            <a:ext cx="4928443" cy="390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6688" y="6410325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 /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10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053" y="6429375"/>
            <a:ext cx="76200" cy="1238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148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87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25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863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101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401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5783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663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488" y="64579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5449" y="6429375"/>
            <a:ext cx="762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3599" y="64293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94515" y="428625"/>
            <a:ext cx="2030759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5282" y="4469606"/>
            <a:ext cx="1148143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Outfit"/>
              </a:rPr>
              <a:t>Ready for Technical &amp; Strategic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4726781"/>
            <a:ext cx="109347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Umair Asif • End-to-End Retail Data Analytics &amp; Business Intelligence 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375" y="2936081"/>
            <a:ext cx="333041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Outfit"/>
              </a:rPr>
              <a:t>1. VIP Conversion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375" y="3221831"/>
            <a:ext cx="31718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Deploy checkout prompts targeting 2,518 repeat non-subscribers with free express shipping ($60.48 AOV) to capture +$22.6K ARR.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4375" y="2936081"/>
            <a:ext cx="333041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Outfit"/>
              </a:rPr>
              <a:t>2. $65+ Basket Floor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4375" y="3221831"/>
            <a:ext cx="31718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Enforce minimum order values on promo codes to prevent margin dilution on high-discount SKUs like Hats and Sneakers.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4375" y="2936081"/>
            <a:ext cx="333041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Outfit"/>
              </a:rPr>
              <a:t>3. Inventory Priority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4375" y="3221831"/>
            <a:ext cx="31718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Maintain buffer safety stock on high-velocity SKUs (Blouses, Pants, Jewelry, Sandals) while balancing promo runs.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2612231"/>
            <a:ext cx="180975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4375" y="2612231"/>
            <a:ext cx="209550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4375" y="2612231"/>
            <a:ext cx="26670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6725" y="371475"/>
            <a:ext cx="117252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250" i="0" u="none">
                <a:solidFill>
                  <a:srgbClr val="F8FAFC"/>
                </a:solidFill>
                <a:latin typeface="Outfit ExtraBold"/>
              </a:rPr>
              <a:t>Strategic Executive Action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