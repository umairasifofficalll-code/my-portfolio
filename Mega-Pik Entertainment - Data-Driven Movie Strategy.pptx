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y="6858000" cx="12192000"/>
  <p:notesSz cx="6858000" cy="9144000"/>
  <p:embeddedFontLst>
    <p:embeddedFont>
      <p:font typeface="Geo"/>
      <p:regular r:id="rId21"/>
      <p:italic r:id="rId22"/>
    </p:embeddedFont>
    <p:embeddedFont>
      <p:font typeface="Inter SemiBold"/>
      <p:regular r:id="rId23"/>
      <p:bold r:id="rId24"/>
      <p:italic r:id="rId25"/>
      <p:boldItalic r:id="rId26"/>
    </p:embeddedFont>
    <p:embeddedFont>
      <p:font typeface="Poppins"/>
      <p:regular r:id="rId27"/>
      <p:bold r:id="rId28"/>
      <p:italic r:id="rId29"/>
      <p:boldItalic r:id="rId30"/>
    </p:embeddedFont>
    <p:embeddedFont>
      <p:font typeface="Inter"/>
      <p:regular r:id="rId31"/>
      <p:bold r:id="rId32"/>
      <p:italic r:id="rId33"/>
      <p:boldItalic r:id="rId34"/>
    </p:embeddedFont>
    <p:embeddedFont>
      <p:font typeface="Poppins Medium"/>
      <p:regular r:id="rId35"/>
      <p:bold r:id="rId36"/>
      <p:italic r:id="rId37"/>
      <p:boldItalic r:id="rId38"/>
    </p:embeddedFont>
    <p:embeddedFont>
      <p:font typeface="Poppins SemiBold"/>
      <p:regular r:id="rId39"/>
      <p:bold r:id="rId40"/>
      <p:italic r:id="rId41"/>
      <p:boldItalic r:id="rId4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FC8ABF7F-C5BB-4740-90CA-061AF67D9040}">
  <a:tblStyle styleId="{FC8ABF7F-C5BB-4740-90CA-061AF67D9040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PoppinsSemiBold-bold.fntdata"/><Relationship Id="rId20" Type="http://schemas.openxmlformats.org/officeDocument/2006/relationships/slide" Target="slides/slide14.xml"/><Relationship Id="rId42" Type="http://schemas.openxmlformats.org/officeDocument/2006/relationships/font" Target="fonts/PoppinsSemiBold-boldItalic.fntdata"/><Relationship Id="rId41" Type="http://schemas.openxmlformats.org/officeDocument/2006/relationships/font" Target="fonts/PoppinsSemiBold-italic.fntdata"/><Relationship Id="rId22" Type="http://schemas.openxmlformats.org/officeDocument/2006/relationships/font" Target="fonts/Geo-italic.fntdata"/><Relationship Id="rId21" Type="http://schemas.openxmlformats.org/officeDocument/2006/relationships/font" Target="fonts/Geo-regular.fntdata"/><Relationship Id="rId24" Type="http://schemas.openxmlformats.org/officeDocument/2006/relationships/font" Target="fonts/InterSemiBold-bold.fntdata"/><Relationship Id="rId23" Type="http://schemas.openxmlformats.org/officeDocument/2006/relationships/font" Target="fonts/InterSemiBold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InterSemiBold-boldItalic.fntdata"/><Relationship Id="rId25" Type="http://schemas.openxmlformats.org/officeDocument/2006/relationships/font" Target="fonts/InterSemiBold-italic.fntdata"/><Relationship Id="rId28" Type="http://schemas.openxmlformats.org/officeDocument/2006/relationships/font" Target="fonts/Poppins-bold.fntdata"/><Relationship Id="rId27" Type="http://schemas.openxmlformats.org/officeDocument/2006/relationships/font" Target="fonts/Poppins-regular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Poppins-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Inter-regular.fntdata"/><Relationship Id="rId30" Type="http://schemas.openxmlformats.org/officeDocument/2006/relationships/font" Target="fonts/Poppins-boldItalic.fntdata"/><Relationship Id="rId11" Type="http://schemas.openxmlformats.org/officeDocument/2006/relationships/slide" Target="slides/slide5.xml"/><Relationship Id="rId33" Type="http://schemas.openxmlformats.org/officeDocument/2006/relationships/font" Target="fonts/Inter-italic.fntdata"/><Relationship Id="rId10" Type="http://schemas.openxmlformats.org/officeDocument/2006/relationships/slide" Target="slides/slide4.xml"/><Relationship Id="rId32" Type="http://schemas.openxmlformats.org/officeDocument/2006/relationships/font" Target="fonts/Inter-bold.fntdata"/><Relationship Id="rId13" Type="http://schemas.openxmlformats.org/officeDocument/2006/relationships/slide" Target="slides/slide7.xml"/><Relationship Id="rId35" Type="http://schemas.openxmlformats.org/officeDocument/2006/relationships/font" Target="fonts/PoppinsMedium-regular.fntdata"/><Relationship Id="rId12" Type="http://schemas.openxmlformats.org/officeDocument/2006/relationships/slide" Target="slides/slide6.xml"/><Relationship Id="rId34" Type="http://schemas.openxmlformats.org/officeDocument/2006/relationships/font" Target="fonts/Inter-boldItalic.fntdata"/><Relationship Id="rId15" Type="http://schemas.openxmlformats.org/officeDocument/2006/relationships/slide" Target="slides/slide9.xml"/><Relationship Id="rId37" Type="http://schemas.openxmlformats.org/officeDocument/2006/relationships/font" Target="fonts/PoppinsMedium-italic.fntdata"/><Relationship Id="rId14" Type="http://schemas.openxmlformats.org/officeDocument/2006/relationships/slide" Target="slides/slide8.xml"/><Relationship Id="rId36" Type="http://schemas.openxmlformats.org/officeDocument/2006/relationships/font" Target="fonts/PoppinsMedium-bold.fntdata"/><Relationship Id="rId17" Type="http://schemas.openxmlformats.org/officeDocument/2006/relationships/slide" Target="slides/slide11.xml"/><Relationship Id="rId39" Type="http://schemas.openxmlformats.org/officeDocument/2006/relationships/font" Target="fonts/PoppinsSemiBold-regular.fntdata"/><Relationship Id="rId16" Type="http://schemas.openxmlformats.org/officeDocument/2006/relationships/slide" Target="slides/slide10.xml"/><Relationship Id="rId38" Type="http://schemas.openxmlformats.org/officeDocument/2006/relationships/font" Target="fonts/PoppinsMedium-boldItalic.fntdata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" name="Google Shape;315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9" name="Google Shape;329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2.png"/><Relationship Id="rId6" Type="http://schemas.openxmlformats.org/officeDocument/2006/relationships/image" Target="../media/image1.png"/><Relationship Id="rId7" Type="http://schemas.openxmlformats.org/officeDocument/2006/relationships/image" Target="../media/image9.png"/><Relationship Id="rId8" Type="http://schemas.openxmlformats.org/officeDocument/2006/relationships/image" Target="../media/image8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image1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6.png"/><Relationship Id="rId5" Type="http://schemas.openxmlformats.org/officeDocument/2006/relationships/image" Target="../media/image10.png"/><Relationship Id="rId6" Type="http://schemas.openxmlformats.org/officeDocument/2006/relationships/image" Target="../media/image14.png"/><Relationship Id="rId7" Type="http://schemas.openxmlformats.org/officeDocument/2006/relationships/image" Target="../media/image7.png"/><Relationship Id="rId8" Type="http://schemas.openxmlformats.org/officeDocument/2006/relationships/image" Target="../media/image1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Relationship Id="rId4" Type="http://schemas.openxmlformats.org/officeDocument/2006/relationships/image" Target="../media/image46.png"/><Relationship Id="rId5" Type="http://schemas.openxmlformats.org/officeDocument/2006/relationships/image" Target="../media/image12.png"/><Relationship Id="rId6" Type="http://schemas.openxmlformats.org/officeDocument/2006/relationships/image" Target="../media/image16.png"/><Relationship Id="rId7" Type="http://schemas.openxmlformats.org/officeDocument/2006/relationships/image" Target="../media/image15.png"/><Relationship Id="rId8" Type="http://schemas.openxmlformats.org/officeDocument/2006/relationships/image" Target="../media/image1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Relationship Id="rId4" Type="http://schemas.openxmlformats.org/officeDocument/2006/relationships/image" Target="../media/image2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Relationship Id="rId4" Type="http://schemas.openxmlformats.org/officeDocument/2006/relationships/image" Target="../media/image2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Relationship Id="rId4" Type="http://schemas.openxmlformats.org/officeDocument/2006/relationships/image" Target="../media/image11.png"/><Relationship Id="rId5" Type="http://schemas.openxmlformats.org/officeDocument/2006/relationships/image" Target="../media/image17.png"/><Relationship Id="rId6" Type="http://schemas.openxmlformats.org/officeDocument/2006/relationships/image" Target="../media/image20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Relationship Id="rId4" Type="http://schemas.openxmlformats.org/officeDocument/2006/relationships/image" Target="../media/image18.png"/><Relationship Id="rId5" Type="http://schemas.openxmlformats.org/officeDocument/2006/relationships/image" Target="../media/image24.png"/><Relationship Id="rId6" Type="http://schemas.openxmlformats.org/officeDocument/2006/relationships/image" Target="../media/image23.png"/><Relationship Id="rId7" Type="http://schemas.openxmlformats.org/officeDocument/2006/relationships/image" Target="../media/image30.png"/><Relationship Id="rId8" Type="http://schemas.openxmlformats.org/officeDocument/2006/relationships/image" Target="../media/image2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Relationship Id="rId4" Type="http://schemas.openxmlformats.org/officeDocument/2006/relationships/image" Target="../media/image21.png"/><Relationship Id="rId11" Type="http://schemas.openxmlformats.org/officeDocument/2006/relationships/image" Target="../media/image33.png"/><Relationship Id="rId10" Type="http://schemas.openxmlformats.org/officeDocument/2006/relationships/image" Target="../media/image34.png"/><Relationship Id="rId9" Type="http://schemas.openxmlformats.org/officeDocument/2006/relationships/image" Target="../media/image32.png"/><Relationship Id="rId5" Type="http://schemas.openxmlformats.org/officeDocument/2006/relationships/image" Target="../media/image25.png"/><Relationship Id="rId6" Type="http://schemas.openxmlformats.org/officeDocument/2006/relationships/image" Target="../media/image27.png"/><Relationship Id="rId7" Type="http://schemas.openxmlformats.org/officeDocument/2006/relationships/image" Target="../media/image31.png"/><Relationship Id="rId8" Type="http://schemas.openxmlformats.org/officeDocument/2006/relationships/image" Target="../media/image29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Relationship Id="rId4" Type="http://schemas.openxmlformats.org/officeDocument/2006/relationships/image" Target="../media/image39.png"/><Relationship Id="rId9" Type="http://schemas.openxmlformats.org/officeDocument/2006/relationships/image" Target="../media/image41.png"/><Relationship Id="rId5" Type="http://schemas.openxmlformats.org/officeDocument/2006/relationships/image" Target="../media/image38.png"/><Relationship Id="rId6" Type="http://schemas.openxmlformats.org/officeDocument/2006/relationships/image" Target="../media/image40.png"/><Relationship Id="rId7" Type="http://schemas.openxmlformats.org/officeDocument/2006/relationships/image" Target="../media/image42.png"/><Relationship Id="rId8" Type="http://schemas.openxmlformats.org/officeDocument/2006/relationships/image" Target="../media/image4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png"/><Relationship Id="rId4" Type="http://schemas.openxmlformats.org/officeDocument/2006/relationships/image" Target="../media/image43.png"/><Relationship Id="rId5" Type="http://schemas.openxmlformats.org/officeDocument/2006/relationships/image" Target="../media/image36.png"/><Relationship Id="rId6" Type="http://schemas.openxmlformats.org/officeDocument/2006/relationships/image" Target="../media/image37.png"/><Relationship Id="rId7" Type="http://schemas.openxmlformats.org/officeDocument/2006/relationships/image" Target="../media/image35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.png"/><Relationship Id="rId4" Type="http://schemas.openxmlformats.org/officeDocument/2006/relationships/image" Target="../media/image4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32B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5" name="Google Shape;85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52975" y="1865114"/>
            <a:ext cx="2686050" cy="285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6" name="Google Shape;86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981325" y="4592835"/>
            <a:ext cx="6229350" cy="400050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3"/>
          <p:cNvSpPr txBox="1"/>
          <p:nvPr/>
        </p:nvSpPr>
        <p:spPr>
          <a:xfrm>
            <a:off x="1295400" y="2341364"/>
            <a:ext cx="9601200" cy="11885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900" u="none" cap="none" strike="noStrik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Data-Driven Film Strategy for Mega-Pik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2286000" y="3701355"/>
            <a:ext cx="762000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An exploratory data analysis of 500 theatrical releases to reverse recent box-office slumps and optimize catalog remake greenlighting.</a:t>
            </a:r>
            <a:endParaRPr/>
          </a:p>
        </p:txBody>
      </p:sp>
      <p:sp>
        <p:nvSpPr>
          <p:cNvPr id="89" name="Google Shape;89;p13"/>
          <p:cNvSpPr txBox="1"/>
          <p:nvPr/>
        </p:nvSpPr>
        <p:spPr>
          <a:xfrm>
            <a:off x="2981325" y="4830960"/>
            <a:ext cx="1704975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9050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Market Analytics Group</a:t>
            </a:r>
            <a:endParaRPr/>
          </a:p>
        </p:txBody>
      </p:sp>
      <p:sp>
        <p:nvSpPr>
          <p:cNvPr id="90" name="Google Shape;90;p13"/>
          <p:cNvSpPr txBox="1"/>
          <p:nvPr/>
        </p:nvSpPr>
        <p:spPr>
          <a:xfrm>
            <a:off x="4972050" y="4830960"/>
            <a:ext cx="1743075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9050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Mega-Pik Entertainment</a:t>
            </a:r>
            <a:endParaRPr/>
          </a:p>
        </p:txBody>
      </p:sp>
      <p:sp>
        <p:nvSpPr>
          <p:cNvPr id="91" name="Google Shape;91;p13"/>
          <p:cNvSpPr txBox="1"/>
          <p:nvPr/>
        </p:nvSpPr>
        <p:spPr>
          <a:xfrm>
            <a:off x="7000875" y="4830960"/>
            <a:ext cx="220980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7145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Executive Greenlight Committee</a:t>
            </a:r>
            <a:endParaRPr/>
          </a:p>
        </p:txBody>
      </p:sp>
      <p:pic>
        <p:nvPicPr>
          <p:cNvPr descr="image.png" id="92" name="Google Shape;92;p1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981325" y="4850010"/>
            <a:ext cx="133350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3" name="Google Shape;93;p1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972050" y="4850010"/>
            <a:ext cx="133350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4" name="Google Shape;94;p1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000875" y="4850010"/>
            <a:ext cx="114300" cy="133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32B"/>
        </a:solidFill>
      </p:bgPr>
    </p:bg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9" name="Google Shape;99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0" name="Google Shape;100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2718345"/>
            <a:ext cx="3429000" cy="2038350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4"/>
          <p:cNvSpPr txBox="1"/>
          <p:nvPr/>
        </p:nvSpPr>
        <p:spPr>
          <a:xfrm>
            <a:off x="819150" y="3070770"/>
            <a:ext cx="2952750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600" u="none" cap="none" strike="noStrike">
                <a:solidFill>
                  <a:srgbClr val="38BDF8"/>
                </a:solidFill>
                <a:latin typeface="Poppins"/>
                <a:ea typeface="Poppins"/>
                <a:cs typeface="Poppins"/>
                <a:sym typeface="Poppins"/>
              </a:rPr>
              <a:t>83%</a:t>
            </a:r>
            <a:endParaRPr/>
          </a:p>
        </p:txBody>
      </p:sp>
      <p:sp>
        <p:nvSpPr>
          <p:cNvPr id="102" name="Google Shape;102;p14"/>
          <p:cNvSpPr txBox="1"/>
          <p:nvPr/>
        </p:nvSpPr>
        <p:spPr>
          <a:xfrm>
            <a:off x="819150" y="4023270"/>
            <a:ext cx="295275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F8FAFC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Recent Underperformance</a:t>
            </a:r>
            <a:endParaRPr/>
          </a:p>
        </p:txBody>
      </p:sp>
      <p:sp>
        <p:nvSpPr>
          <p:cNvPr id="103" name="Google Shape;103;p14"/>
          <p:cNvSpPr txBox="1"/>
          <p:nvPr/>
        </p:nvSpPr>
        <p:spPr>
          <a:xfrm>
            <a:off x="819150" y="4251870"/>
            <a:ext cx="295275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5 of last 6 films barely broke even or lost capital</a:t>
            </a:r>
            <a:endParaRPr/>
          </a:p>
        </p:txBody>
      </p:sp>
      <p:sp>
        <p:nvSpPr>
          <p:cNvPr id="104" name="Google Shape;104;p14"/>
          <p:cNvSpPr txBox="1"/>
          <p:nvPr/>
        </p:nvSpPr>
        <p:spPr>
          <a:xfrm>
            <a:off x="4391025" y="2725935"/>
            <a:ext cx="7580947" cy="2513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8BDF8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From Intuition to Quantitative Strategy</a:t>
            </a:r>
            <a:endParaRPr/>
          </a:p>
        </p:txBody>
      </p:sp>
      <p:sp>
        <p:nvSpPr>
          <p:cNvPr id="105" name="Google Shape;105;p14"/>
          <p:cNvSpPr txBox="1"/>
          <p:nvPr/>
        </p:nvSpPr>
        <p:spPr>
          <a:xfrm>
            <a:off x="4391025" y="3072556"/>
            <a:ext cx="72199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Competitor studios experienced similar downturns but successfully rebounded by modernizing high-equity catalog remakes for new audience demographics.</a:t>
            </a:r>
            <a:endParaRPr/>
          </a:p>
        </p:txBody>
      </p:sp>
      <p:sp>
        <p:nvSpPr>
          <p:cNvPr id="106" name="Google Shape;106;p14"/>
          <p:cNvSpPr txBox="1"/>
          <p:nvPr/>
        </p:nvSpPr>
        <p:spPr>
          <a:xfrm>
            <a:off x="4391025" y="3529756"/>
            <a:ext cx="72199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Our analytics team audited </a:t>
            </a:r>
            <a:r>
              <a:rPr b="1" i="0" lang="en-US" sz="12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500 feature films (2010–2025)</a:t>
            </a:r>
            <a:r>
              <a:rPr b="0" i="0" lang="en-US" sz="12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to evaluate opening velocity, budget-to-gross elasticity, and genre-specific profitability floors.</a:t>
            </a:r>
            <a:endParaRPr/>
          </a:p>
        </p:txBody>
      </p:sp>
      <p:sp>
        <p:nvSpPr>
          <p:cNvPr id="107" name="Google Shape;107;p14"/>
          <p:cNvSpPr/>
          <p:nvPr/>
        </p:nvSpPr>
        <p:spPr>
          <a:xfrm>
            <a:off x="4391025" y="4139356"/>
            <a:ext cx="7219950" cy="6096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14"/>
          <p:cNvSpPr txBox="1"/>
          <p:nvPr/>
        </p:nvSpPr>
        <p:spPr>
          <a:xfrm>
            <a:off x="4562475" y="4253656"/>
            <a:ext cx="687705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Core EDA Mandate:</a:t>
            </a:r>
            <a:r>
              <a:rPr b="0" i="0" lang="en-US" sz="120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b="0" i="0" lang="en-US" sz="12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Re-engineer Mega-Pik's slate to maximize opening weekend capture and eliminate downside capital risk.</a:t>
            </a:r>
            <a:endParaRPr/>
          </a:p>
        </p:txBody>
      </p:sp>
      <p:sp>
        <p:nvSpPr>
          <p:cNvPr id="109" name="Google Shape;109;p14"/>
          <p:cNvSpPr/>
          <p:nvPr/>
        </p:nvSpPr>
        <p:spPr>
          <a:xfrm>
            <a:off x="4391025" y="4139356"/>
            <a:ext cx="28575" cy="6096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14"/>
          <p:cNvSpPr txBox="1"/>
          <p:nvPr/>
        </p:nvSpPr>
        <p:spPr>
          <a:xfrm>
            <a:off x="581025" y="485775"/>
            <a:ext cx="11581447" cy="38859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550" u="none" cap="none" strike="noStrike">
                <a:solidFill>
                  <a:srgbClr val="F8FAFC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Diagnosing Mega-Pik's Box-Office Slump</a:t>
            </a:r>
            <a:endParaRPr/>
          </a:p>
        </p:txBody>
      </p:sp>
      <p:sp>
        <p:nvSpPr>
          <p:cNvPr id="111" name="Google Shape;111;p14"/>
          <p:cNvSpPr/>
          <p:nvPr/>
        </p:nvSpPr>
        <p:spPr>
          <a:xfrm>
            <a:off x="581025" y="874365"/>
            <a:ext cx="47625" cy="2667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32B"/>
        </a:solidFill>
      </p:bgPr>
    </p:bg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6" name="Google Shape;116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7" name="Google Shape;117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2190303"/>
            <a:ext cx="5372100" cy="309458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8" name="Google Shape;118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38875" y="2190303"/>
            <a:ext cx="5372100" cy="3094583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15"/>
          <p:cNvSpPr txBox="1"/>
          <p:nvPr/>
        </p:nvSpPr>
        <p:spPr>
          <a:xfrm>
            <a:off x="857250" y="2466528"/>
            <a:ext cx="5060632" cy="2513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8BDF8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Opening Velocity as a Pacing Metric</a:t>
            </a:r>
            <a:endParaRPr/>
          </a:p>
        </p:txBody>
      </p:sp>
      <p:sp>
        <p:nvSpPr>
          <p:cNvPr id="120" name="Google Shape;120;p15"/>
          <p:cNvSpPr txBox="1"/>
          <p:nvPr/>
        </p:nvSpPr>
        <p:spPr>
          <a:xfrm>
            <a:off x="857250" y="2813149"/>
            <a:ext cx="481965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A negative Opening Weekend ROI is mathematically standard in film economics—production and marketing budgets are spent upfront, while opening weekend covers only the first 72 hours.</a:t>
            </a:r>
            <a:endParaRPr/>
          </a:p>
        </p:txBody>
      </p:sp>
      <p:sp>
        <p:nvSpPr>
          <p:cNvPr id="121" name="Google Shape;121;p15"/>
          <p:cNvSpPr txBox="1"/>
          <p:nvPr/>
        </p:nvSpPr>
        <p:spPr>
          <a:xfrm>
            <a:off x="6515100" y="2466528"/>
            <a:ext cx="5060632" cy="2513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8BDF8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The 2.8x Theatrical Multiplier Baseline</a:t>
            </a:r>
            <a:endParaRPr/>
          </a:p>
        </p:txBody>
      </p:sp>
      <p:sp>
        <p:nvSpPr>
          <p:cNvPr id="122" name="Google Shape;122;p15"/>
          <p:cNvSpPr txBox="1"/>
          <p:nvPr/>
        </p:nvSpPr>
        <p:spPr>
          <a:xfrm>
            <a:off x="6515100" y="2813149"/>
            <a:ext cx="481965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Standard industry theatrical distribution generates 2.5x to 3.5x (mean: 2.8x) the opening weekend gross across the full theatrical lifecycle, plus downstream VOD and streaming windows.</a:t>
            </a:r>
            <a:endParaRPr/>
          </a:p>
        </p:txBody>
      </p:sp>
      <p:sp>
        <p:nvSpPr>
          <p:cNvPr id="123" name="Google Shape;123;p15"/>
          <p:cNvSpPr txBox="1"/>
          <p:nvPr/>
        </p:nvSpPr>
        <p:spPr>
          <a:xfrm>
            <a:off x="1066800" y="3594199"/>
            <a:ext cx="4610100" cy="2143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Opening Share:</a:t>
            </a:r>
            <a:r>
              <a:rPr b="0" i="0" lang="en-US" sz="1125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Accounts for 25% to 40% of lifetime gross.</a:t>
            </a:r>
            <a:endParaRPr/>
          </a:p>
        </p:txBody>
      </p:sp>
      <p:sp>
        <p:nvSpPr>
          <p:cNvPr id="124" name="Google Shape;124;p15"/>
          <p:cNvSpPr txBox="1"/>
          <p:nvPr/>
        </p:nvSpPr>
        <p:spPr>
          <a:xfrm>
            <a:off x="1066800" y="3922811"/>
            <a:ext cx="4610100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Cost Recovery:</a:t>
            </a:r>
            <a:r>
              <a:rPr b="0" i="0" lang="en-US" sz="1125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Films recovering &gt;50% of cost in opening 72h have a 92% lifetime profit probability.</a:t>
            </a:r>
            <a:endParaRPr/>
          </a:p>
        </p:txBody>
      </p:sp>
      <p:sp>
        <p:nvSpPr>
          <p:cNvPr id="125" name="Google Shape;125;p15"/>
          <p:cNvSpPr txBox="1"/>
          <p:nvPr/>
        </p:nvSpPr>
        <p:spPr>
          <a:xfrm>
            <a:off x="1066800" y="4465736"/>
            <a:ext cx="4610100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Negative ROI Myth:</a:t>
            </a:r>
            <a:r>
              <a:rPr b="0" i="0" lang="en-US" sz="1125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-45% opening ROI represents a healthy 55% capital recoupment in 3 days.</a:t>
            </a:r>
            <a:endParaRPr/>
          </a:p>
        </p:txBody>
      </p:sp>
      <p:sp>
        <p:nvSpPr>
          <p:cNvPr id="126" name="Google Shape;126;p15"/>
          <p:cNvSpPr txBox="1"/>
          <p:nvPr/>
        </p:nvSpPr>
        <p:spPr>
          <a:xfrm>
            <a:off x="6724650" y="3594199"/>
            <a:ext cx="4610100" cy="2143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Average Production Budget:</a:t>
            </a:r>
            <a:r>
              <a:rPr b="0" i="0" lang="en-US" sz="1125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$54.8M across 500 benchmark titles.</a:t>
            </a:r>
            <a:endParaRPr/>
          </a:p>
        </p:txBody>
      </p:sp>
      <p:sp>
        <p:nvSpPr>
          <p:cNvPr id="127" name="Google Shape;127;p15"/>
          <p:cNvSpPr txBox="1"/>
          <p:nvPr/>
        </p:nvSpPr>
        <p:spPr>
          <a:xfrm>
            <a:off x="6724650" y="3922811"/>
            <a:ext cx="4610100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Average Marketing Allocation:</a:t>
            </a:r>
            <a:r>
              <a:rPr b="0" i="0" lang="en-US" sz="1125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$28.2M (~51% of production spend).</a:t>
            </a:r>
            <a:endParaRPr/>
          </a:p>
        </p:txBody>
      </p:sp>
      <p:sp>
        <p:nvSpPr>
          <p:cNvPr id="128" name="Google Shape;128;p15"/>
          <p:cNvSpPr txBox="1"/>
          <p:nvPr/>
        </p:nvSpPr>
        <p:spPr>
          <a:xfrm>
            <a:off x="6724650" y="4465736"/>
            <a:ext cx="4610100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Downside Trigger:</a:t>
            </a:r>
            <a:r>
              <a:rPr b="0" i="0" lang="en-US" sz="1125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Releases capturing &lt;35% opening recovery face an 84% deficit rate.</a:t>
            </a:r>
            <a:endParaRPr/>
          </a:p>
        </p:txBody>
      </p:sp>
      <p:sp>
        <p:nvSpPr>
          <p:cNvPr id="129" name="Google Shape;129;p15"/>
          <p:cNvSpPr txBox="1"/>
          <p:nvPr/>
        </p:nvSpPr>
        <p:spPr>
          <a:xfrm>
            <a:off x="857250" y="3594199"/>
            <a:ext cx="142875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/>
          </a:p>
        </p:txBody>
      </p:sp>
      <p:sp>
        <p:nvSpPr>
          <p:cNvPr id="130" name="Google Shape;130;p15"/>
          <p:cNvSpPr txBox="1"/>
          <p:nvPr/>
        </p:nvSpPr>
        <p:spPr>
          <a:xfrm>
            <a:off x="857250" y="3922811"/>
            <a:ext cx="142875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/>
          </a:p>
        </p:txBody>
      </p:sp>
      <p:sp>
        <p:nvSpPr>
          <p:cNvPr id="131" name="Google Shape;131;p15"/>
          <p:cNvSpPr txBox="1"/>
          <p:nvPr/>
        </p:nvSpPr>
        <p:spPr>
          <a:xfrm>
            <a:off x="857250" y="4465736"/>
            <a:ext cx="142875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/>
          </a:p>
        </p:txBody>
      </p:sp>
      <p:sp>
        <p:nvSpPr>
          <p:cNvPr id="132" name="Google Shape;132;p15"/>
          <p:cNvSpPr txBox="1"/>
          <p:nvPr/>
        </p:nvSpPr>
        <p:spPr>
          <a:xfrm>
            <a:off x="6515100" y="3594199"/>
            <a:ext cx="142875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/>
          </a:p>
        </p:txBody>
      </p:sp>
      <p:sp>
        <p:nvSpPr>
          <p:cNvPr id="133" name="Google Shape;133;p15"/>
          <p:cNvSpPr txBox="1"/>
          <p:nvPr/>
        </p:nvSpPr>
        <p:spPr>
          <a:xfrm>
            <a:off x="6515100" y="3922811"/>
            <a:ext cx="142875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/>
          </a:p>
        </p:txBody>
      </p:sp>
      <p:sp>
        <p:nvSpPr>
          <p:cNvPr id="134" name="Google Shape;134;p15"/>
          <p:cNvSpPr txBox="1"/>
          <p:nvPr/>
        </p:nvSpPr>
        <p:spPr>
          <a:xfrm>
            <a:off x="6515100" y="4465736"/>
            <a:ext cx="142875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/>
          </a:p>
        </p:txBody>
      </p:sp>
      <p:sp>
        <p:nvSpPr>
          <p:cNvPr id="135" name="Google Shape;135;p15"/>
          <p:cNvSpPr txBox="1"/>
          <p:nvPr/>
        </p:nvSpPr>
        <p:spPr>
          <a:xfrm>
            <a:off x="581025" y="485775"/>
            <a:ext cx="11581447" cy="38859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550" u="none" cap="none" strike="noStrike">
                <a:solidFill>
                  <a:srgbClr val="F8FAFC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Opening Weekend vs. Lifetime Theatricals</a:t>
            </a:r>
            <a:endParaRPr/>
          </a:p>
        </p:txBody>
      </p:sp>
      <p:sp>
        <p:nvSpPr>
          <p:cNvPr id="136" name="Google Shape;136;p15"/>
          <p:cNvSpPr/>
          <p:nvPr/>
        </p:nvSpPr>
        <p:spPr>
          <a:xfrm>
            <a:off x="581025" y="874365"/>
            <a:ext cx="47625" cy="2667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32B"/>
        </a:solidFill>
      </p:bgPr>
    </p:bg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1" name="Google Shape;141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2" name="Google Shape;142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3802707"/>
            <a:ext cx="2486025" cy="63579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3" name="Google Shape;143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181350" y="3802707"/>
            <a:ext cx="2486025" cy="63579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4" name="Google Shape;144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81025" y="4552801"/>
            <a:ext cx="2486025" cy="63579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5" name="Google Shape;145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181350" y="4552801"/>
            <a:ext cx="2486025" cy="635793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16"/>
          <p:cNvSpPr txBox="1"/>
          <p:nvPr/>
        </p:nvSpPr>
        <p:spPr>
          <a:xfrm>
            <a:off x="581025" y="485775"/>
            <a:ext cx="5340667" cy="7771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550" u="none" cap="none" strike="noStrike">
                <a:solidFill>
                  <a:srgbClr val="F8FAFC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Dataset &amp; Feature Architecture</a:t>
            </a:r>
            <a:endParaRPr/>
          </a:p>
        </p:txBody>
      </p:sp>
      <p:pic>
        <p:nvPicPr>
          <p:cNvPr descr="image.png" id="147" name="Google Shape;147;p1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096000" y="9525"/>
            <a:ext cx="608647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6"/>
          <p:cNvSpPr/>
          <p:nvPr/>
        </p:nvSpPr>
        <p:spPr>
          <a:xfrm>
            <a:off x="581025" y="1262955"/>
            <a:ext cx="47327" cy="2667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6"/>
          <p:cNvSpPr txBox="1"/>
          <p:nvPr/>
        </p:nvSpPr>
        <p:spPr>
          <a:xfrm>
            <a:off x="581025" y="2694086"/>
            <a:ext cx="5340667" cy="2513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8BDF8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500 Standardized Film Records</a:t>
            </a:r>
            <a:endParaRPr/>
          </a:p>
        </p:txBody>
      </p:sp>
      <p:sp>
        <p:nvSpPr>
          <p:cNvPr id="150" name="Google Shape;150;p16"/>
          <p:cNvSpPr txBox="1"/>
          <p:nvPr/>
        </p:nvSpPr>
        <p:spPr>
          <a:xfrm>
            <a:off x="581025" y="3040707"/>
            <a:ext cx="508635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To establish rigorous benchmarks, we engineered dynamic features capturing capital investment, preview momentum, and lifetime box office returns.</a:t>
            </a:r>
            <a:endParaRPr/>
          </a:p>
        </p:txBody>
      </p:sp>
      <p:sp>
        <p:nvSpPr>
          <p:cNvPr id="151" name="Google Shape;151;p16"/>
          <p:cNvSpPr txBox="1"/>
          <p:nvPr/>
        </p:nvSpPr>
        <p:spPr>
          <a:xfrm>
            <a:off x="704850" y="3955107"/>
            <a:ext cx="6096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38BDF8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Total Cost</a:t>
            </a:r>
            <a:endParaRPr/>
          </a:p>
        </p:txBody>
      </p:sp>
      <p:sp>
        <p:nvSpPr>
          <p:cNvPr id="152" name="Google Shape;152;p16"/>
          <p:cNvSpPr txBox="1"/>
          <p:nvPr/>
        </p:nvSpPr>
        <p:spPr>
          <a:xfrm>
            <a:off x="704850" y="4136082"/>
            <a:ext cx="2238375" cy="17859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5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37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Budget + Marketing Spend</a:t>
            </a:r>
            <a:endParaRPr/>
          </a:p>
        </p:txBody>
      </p:sp>
      <p:sp>
        <p:nvSpPr>
          <p:cNvPr id="153" name="Google Shape;153;p16"/>
          <p:cNvSpPr txBox="1"/>
          <p:nvPr/>
        </p:nvSpPr>
        <p:spPr>
          <a:xfrm>
            <a:off x="3305175" y="3955107"/>
            <a:ext cx="1000125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4ADE80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Preview Velocity</a:t>
            </a:r>
            <a:endParaRPr/>
          </a:p>
        </p:txBody>
      </p:sp>
      <p:sp>
        <p:nvSpPr>
          <p:cNvPr id="154" name="Google Shape;154;p16"/>
          <p:cNvSpPr txBox="1"/>
          <p:nvPr/>
        </p:nvSpPr>
        <p:spPr>
          <a:xfrm>
            <a:off x="3305175" y="4136082"/>
            <a:ext cx="2238375" cy="17859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5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37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Opening Night / Weekend %</a:t>
            </a:r>
            <a:endParaRPr/>
          </a:p>
        </p:txBody>
      </p:sp>
      <p:sp>
        <p:nvSpPr>
          <p:cNvPr id="155" name="Google Shape;155;p16"/>
          <p:cNvSpPr txBox="1"/>
          <p:nvPr/>
        </p:nvSpPr>
        <p:spPr>
          <a:xfrm>
            <a:off x="704850" y="4705201"/>
            <a:ext cx="1133475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59E0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Lifetime Box Office</a:t>
            </a:r>
            <a:endParaRPr/>
          </a:p>
        </p:txBody>
      </p:sp>
      <p:sp>
        <p:nvSpPr>
          <p:cNvPr id="156" name="Google Shape;156;p16"/>
          <p:cNvSpPr txBox="1"/>
          <p:nvPr/>
        </p:nvSpPr>
        <p:spPr>
          <a:xfrm>
            <a:off x="704850" y="4886176"/>
            <a:ext cx="2238375" cy="17859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5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37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Opening Weekend × 2.8x</a:t>
            </a:r>
            <a:endParaRPr/>
          </a:p>
        </p:txBody>
      </p:sp>
      <p:sp>
        <p:nvSpPr>
          <p:cNvPr id="157" name="Google Shape;157;p16"/>
          <p:cNvSpPr txBox="1"/>
          <p:nvPr/>
        </p:nvSpPr>
        <p:spPr>
          <a:xfrm>
            <a:off x="3305175" y="4705201"/>
            <a:ext cx="8763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8717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Lifetime ROI %</a:t>
            </a:r>
            <a:endParaRPr/>
          </a:p>
        </p:txBody>
      </p:sp>
      <p:sp>
        <p:nvSpPr>
          <p:cNvPr id="158" name="Google Shape;158;p16"/>
          <p:cNvSpPr txBox="1"/>
          <p:nvPr/>
        </p:nvSpPr>
        <p:spPr>
          <a:xfrm>
            <a:off x="3305175" y="4886176"/>
            <a:ext cx="2238375" cy="17859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5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37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Net Profit / Total Cost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32B"/>
        </a:solidFill>
      </p:bgPr>
    </p:bg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3" name="Google Shape;163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4" name="Google Shape;164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2228998"/>
            <a:ext cx="11029950" cy="242649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5" name="Google Shape;165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81025" y="1102965"/>
            <a:ext cx="11029950" cy="5269259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66" name="Google Shape;166;p17"/>
          <p:cNvGraphicFramePr/>
          <p:nvPr/>
        </p:nvGraphicFramePr>
        <p:xfrm>
          <a:off x="590550" y="2238523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{FC8ABF7F-C5BB-4740-90CA-061AF67D9040}</a:tableStyleId>
              </a:tblPr>
              <a:tblGrid>
                <a:gridCol w="2133450"/>
                <a:gridCol w="1830725"/>
                <a:gridCol w="1928225"/>
                <a:gridCol w="5118500"/>
              </a:tblGrid>
              <a:tr h="481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87" u="none" cap="none" strike="noStrike">
                          <a:solidFill>
                            <a:srgbClr val="38BDF8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Variable Metric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7255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87" u="none" cap="none" strike="noStrike">
                          <a:solidFill>
                            <a:srgbClr val="38BDF8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Correlation (r)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7255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87" u="none" cap="none" strike="noStrike">
                          <a:solidFill>
                            <a:srgbClr val="38BDF8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Predictive Power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7255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87" u="none" cap="none" strike="noStrike">
                          <a:solidFill>
                            <a:srgbClr val="38BDF8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Strategic Action for Mega-Pik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72554"/>
                    </a:solidFill>
                  </a:tcPr>
                </a:tc>
              </a:tr>
              <a:tr h="481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087" u="none" cap="none" strike="noStrike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Opening Night Revenue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087" u="none" cap="none" strike="noStrike">
                          <a:solidFill>
                            <a:srgbClr val="38BDF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0.99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87" u="none" cap="none" strike="noStrike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Deterministic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87" u="none" cap="none" strike="noStrike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Maximize Thursday preview capacity and event screenings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81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087" u="none" cap="none" strike="noStrike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Total Investment Cost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087" u="none" cap="none" strike="noStrike">
                          <a:solidFill>
                            <a:srgbClr val="38BDF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0.77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87" u="none" cap="none" strike="noStrike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High Influence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87" u="none" cap="none" strike="noStrike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Ensure production scale matches intended distribution footprint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81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087" u="none" cap="none" strike="noStrike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Production Budget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087" u="none" cap="none" strike="noStrike">
                          <a:solidFill>
                            <a:srgbClr val="38BDF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0.76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87" u="none" cap="none" strike="noStrike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High Influence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87" u="none" cap="none" strike="noStrike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Cap standalone original budgets at $90M to prevent over-leverage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81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087" u="none" cap="none" strike="noStrike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Marketing Spend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087" u="none" cap="none" strike="noStrike">
                          <a:solidFill>
                            <a:srgbClr val="38BDF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0.75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87" u="none" cap="none" strike="noStrike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High Influence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87" u="none" cap="none" strike="noStrike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Mandate 45%–55% marketing-to-budget ratio for all tentpoles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67" name="Google Shape;167;p17"/>
          <p:cNvSpPr/>
          <p:nvPr/>
        </p:nvSpPr>
        <p:spPr>
          <a:xfrm>
            <a:off x="590550" y="2707630"/>
            <a:ext cx="2133451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17"/>
          <p:cNvSpPr/>
          <p:nvPr/>
        </p:nvSpPr>
        <p:spPr>
          <a:xfrm>
            <a:off x="2724001" y="2707630"/>
            <a:ext cx="1830734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17"/>
          <p:cNvSpPr/>
          <p:nvPr/>
        </p:nvSpPr>
        <p:spPr>
          <a:xfrm>
            <a:off x="4554735" y="2707630"/>
            <a:ext cx="1928217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17"/>
          <p:cNvSpPr/>
          <p:nvPr/>
        </p:nvSpPr>
        <p:spPr>
          <a:xfrm>
            <a:off x="6482953" y="2707630"/>
            <a:ext cx="5118496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17"/>
          <p:cNvSpPr/>
          <p:nvPr/>
        </p:nvSpPr>
        <p:spPr>
          <a:xfrm>
            <a:off x="590550" y="3191023"/>
            <a:ext cx="2133451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17"/>
          <p:cNvSpPr/>
          <p:nvPr/>
        </p:nvSpPr>
        <p:spPr>
          <a:xfrm>
            <a:off x="2724001" y="3191023"/>
            <a:ext cx="1830734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17"/>
          <p:cNvSpPr/>
          <p:nvPr/>
        </p:nvSpPr>
        <p:spPr>
          <a:xfrm>
            <a:off x="4554735" y="3191023"/>
            <a:ext cx="1928217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17"/>
          <p:cNvSpPr/>
          <p:nvPr/>
        </p:nvSpPr>
        <p:spPr>
          <a:xfrm>
            <a:off x="6482953" y="3191023"/>
            <a:ext cx="5118496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17"/>
          <p:cNvSpPr/>
          <p:nvPr/>
        </p:nvSpPr>
        <p:spPr>
          <a:xfrm>
            <a:off x="590550" y="3674417"/>
            <a:ext cx="2133451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17"/>
          <p:cNvSpPr/>
          <p:nvPr/>
        </p:nvSpPr>
        <p:spPr>
          <a:xfrm>
            <a:off x="2724001" y="3674417"/>
            <a:ext cx="1830734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17"/>
          <p:cNvSpPr/>
          <p:nvPr/>
        </p:nvSpPr>
        <p:spPr>
          <a:xfrm>
            <a:off x="4554735" y="3674417"/>
            <a:ext cx="1928217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17"/>
          <p:cNvSpPr/>
          <p:nvPr/>
        </p:nvSpPr>
        <p:spPr>
          <a:xfrm>
            <a:off x="6482953" y="3674417"/>
            <a:ext cx="5118496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17"/>
          <p:cNvSpPr/>
          <p:nvPr/>
        </p:nvSpPr>
        <p:spPr>
          <a:xfrm>
            <a:off x="590550" y="4157811"/>
            <a:ext cx="2133451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17"/>
          <p:cNvSpPr/>
          <p:nvPr/>
        </p:nvSpPr>
        <p:spPr>
          <a:xfrm>
            <a:off x="2724001" y="4157811"/>
            <a:ext cx="1830734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17"/>
          <p:cNvSpPr/>
          <p:nvPr/>
        </p:nvSpPr>
        <p:spPr>
          <a:xfrm>
            <a:off x="4554735" y="4157811"/>
            <a:ext cx="1928217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17"/>
          <p:cNvSpPr/>
          <p:nvPr/>
        </p:nvSpPr>
        <p:spPr>
          <a:xfrm>
            <a:off x="6482953" y="4157811"/>
            <a:ext cx="5118496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83" name="Google Shape;183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745235" y="2855267"/>
            <a:ext cx="942975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4" name="Google Shape;184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745235" y="3338661"/>
            <a:ext cx="1000125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5" name="Google Shape;185;p1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745235" y="3822055"/>
            <a:ext cx="1000125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6" name="Google Shape;186;p1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745235" y="4305448"/>
            <a:ext cx="1000125" cy="219075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17"/>
          <p:cNvSpPr txBox="1"/>
          <p:nvPr/>
        </p:nvSpPr>
        <p:spPr>
          <a:xfrm>
            <a:off x="581025" y="485775"/>
            <a:ext cx="11581447" cy="38859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550" u="none" cap="none" strike="noStrike">
                <a:solidFill>
                  <a:srgbClr val="F8FAFC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Correlation of Opening Weekend Drivers</a:t>
            </a:r>
            <a:endParaRPr/>
          </a:p>
        </p:txBody>
      </p:sp>
      <p:sp>
        <p:nvSpPr>
          <p:cNvPr id="188" name="Google Shape;188;p17"/>
          <p:cNvSpPr/>
          <p:nvPr/>
        </p:nvSpPr>
        <p:spPr>
          <a:xfrm>
            <a:off x="581025" y="874365"/>
            <a:ext cx="47625" cy="2667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32B"/>
        </a:solidFill>
      </p:bgPr>
    </p:bg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3" name="Google Shape;193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4" name="Google Shape;194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1102965"/>
            <a:ext cx="11029950" cy="5269259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18"/>
          <p:cNvSpPr txBox="1"/>
          <p:nvPr/>
        </p:nvSpPr>
        <p:spPr>
          <a:xfrm>
            <a:off x="581025" y="4985295"/>
            <a:ext cx="110299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2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Action, Sci-Fi, and Adventure lead gross volume capture ($60M–$72M openings), while Horror operates at an ultra-lean $14.7M cost floor with exceptional capital turnover.</a:t>
            </a:r>
            <a:endParaRPr/>
          </a:p>
        </p:txBody>
      </p:sp>
      <p:sp>
        <p:nvSpPr>
          <p:cNvPr id="196" name="Google Shape;196;p18"/>
          <p:cNvSpPr txBox="1"/>
          <p:nvPr/>
        </p:nvSpPr>
        <p:spPr>
          <a:xfrm>
            <a:off x="581025" y="485775"/>
            <a:ext cx="11581447" cy="38859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550" u="none" cap="none" strike="noStrike">
                <a:solidFill>
                  <a:srgbClr val="F8FAFC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Average Cost vs. Opening Gross by Genre</a:t>
            </a:r>
            <a:endParaRPr/>
          </a:p>
        </p:txBody>
      </p:sp>
      <p:sp>
        <p:nvSpPr>
          <p:cNvPr id="197" name="Google Shape;197;p18"/>
          <p:cNvSpPr/>
          <p:nvPr/>
        </p:nvSpPr>
        <p:spPr>
          <a:xfrm>
            <a:off x="581025" y="874365"/>
            <a:ext cx="47625" cy="2667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32B"/>
        </a:solidFill>
      </p:bgPr>
    </p:bg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02" name="Google Shape;202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3" name="Google Shape;203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1102965"/>
            <a:ext cx="11029950" cy="5269259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19"/>
          <p:cNvSpPr txBox="1"/>
          <p:nvPr/>
        </p:nvSpPr>
        <p:spPr>
          <a:xfrm>
            <a:off x="1433512" y="4928145"/>
            <a:ext cx="932497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2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Over 80% of all $100M+ opening weekends are captured by PG-13 and PG ratings due to unrestricted demographic accessibility.</a:t>
            </a:r>
            <a:endParaRPr/>
          </a:p>
        </p:txBody>
      </p:sp>
      <p:sp>
        <p:nvSpPr>
          <p:cNvPr id="205" name="Google Shape;205;p19"/>
          <p:cNvSpPr txBox="1"/>
          <p:nvPr/>
        </p:nvSpPr>
        <p:spPr>
          <a:xfrm>
            <a:off x="581025" y="485775"/>
            <a:ext cx="11581447" cy="38859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550" u="none" cap="none" strike="noStrike">
                <a:solidFill>
                  <a:srgbClr val="F8FAFC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Rating Distribution &amp; Box Office Capture</a:t>
            </a:r>
            <a:endParaRPr/>
          </a:p>
        </p:txBody>
      </p:sp>
      <p:sp>
        <p:nvSpPr>
          <p:cNvPr id="206" name="Google Shape;206;p19"/>
          <p:cNvSpPr/>
          <p:nvPr/>
        </p:nvSpPr>
        <p:spPr>
          <a:xfrm>
            <a:off x="581025" y="874365"/>
            <a:ext cx="47625" cy="2667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32B"/>
        </a:solidFill>
      </p:bgPr>
    </p:bg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11" name="Google Shape;211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2" name="Google Shape;212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2190303"/>
            <a:ext cx="5372100" cy="309458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3" name="Google Shape;213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38875" y="2190303"/>
            <a:ext cx="5372100" cy="3094583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20"/>
          <p:cNvSpPr txBox="1"/>
          <p:nvPr/>
        </p:nvSpPr>
        <p:spPr>
          <a:xfrm>
            <a:off x="857250" y="2466528"/>
            <a:ext cx="5060632" cy="2513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09550" spcFirstLastPara="1" rIns="0" wrap="square" tIns="0">
            <a:spAutoFit/>
          </a:bodyPr>
          <a:lstStyle/>
          <a:p>
            <a:pPr indent="0" lvl="0" marL="0" marR="0" rtl="0" algn="l">
              <a:lnSpc>
                <a:spcPct val="1199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ADE80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High-Margin, Low-Risk Genres</a:t>
            </a:r>
            <a:endParaRPr/>
          </a:p>
        </p:txBody>
      </p:sp>
      <p:sp>
        <p:nvSpPr>
          <p:cNvPr id="215" name="Google Shape;215;p20"/>
          <p:cNvSpPr txBox="1"/>
          <p:nvPr/>
        </p:nvSpPr>
        <p:spPr>
          <a:xfrm>
            <a:off x="857250" y="2813149"/>
            <a:ext cx="481965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Horror (51.6% Median ROI) &amp; Comedy (42.0% Median ROI)</a:t>
            </a:r>
            <a:r>
              <a:rPr b="0" i="0" lang="en-US" sz="12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deliver the studio's highest capital efficiency with minimal loss exposure.</a:t>
            </a:r>
            <a:endParaRPr/>
          </a:p>
        </p:txBody>
      </p:sp>
      <p:sp>
        <p:nvSpPr>
          <p:cNvPr id="216" name="Google Shape;216;p20"/>
          <p:cNvSpPr txBox="1"/>
          <p:nvPr/>
        </p:nvSpPr>
        <p:spPr>
          <a:xfrm>
            <a:off x="6515100" y="2466528"/>
            <a:ext cx="5060632" cy="2513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09550" spcFirstLastPara="1" rIns="0" wrap="square" tIns="0">
            <a:spAutoFit/>
          </a:bodyPr>
          <a:lstStyle/>
          <a:p>
            <a:pPr indent="0" lvl="0" marL="0" marR="0" rtl="0" algn="l">
              <a:lnSpc>
                <a:spcPct val="1199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F8717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High-Ceiling, Volatile Genres</a:t>
            </a:r>
            <a:endParaRPr/>
          </a:p>
        </p:txBody>
      </p:sp>
      <p:sp>
        <p:nvSpPr>
          <p:cNvPr id="217" name="Google Shape;217;p20"/>
          <p:cNvSpPr txBox="1"/>
          <p:nvPr/>
        </p:nvSpPr>
        <p:spPr>
          <a:xfrm>
            <a:off x="6515100" y="2813149"/>
            <a:ext cx="48196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Action (32.5% Median ROI) &amp; Drama (19.1% Median ROI)</a:t>
            </a:r>
            <a:r>
              <a:rPr b="0" i="0" lang="en-US" sz="12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carry substantial downside variance despite large gross numbers.</a:t>
            </a:r>
            <a:endParaRPr/>
          </a:p>
        </p:txBody>
      </p:sp>
      <p:pic>
        <p:nvPicPr>
          <p:cNvPr descr="image.png" id="218" name="Google Shape;218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57250" y="2476053"/>
            <a:ext cx="209550" cy="209550"/>
          </a:xfrm>
          <a:prstGeom prst="rect">
            <a:avLst/>
          </a:prstGeom>
          <a:noFill/>
          <a:ln>
            <a:noFill/>
          </a:ln>
        </p:spPr>
      </p:pic>
      <p:sp>
        <p:nvSpPr>
          <p:cNvPr id="219" name="Google Shape;219;p20"/>
          <p:cNvSpPr txBox="1"/>
          <p:nvPr/>
        </p:nvSpPr>
        <p:spPr>
          <a:xfrm>
            <a:off x="1066800" y="3594199"/>
            <a:ext cx="4610100" cy="2143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Lean Production:</a:t>
            </a:r>
            <a:r>
              <a:rPr b="0" i="0" lang="en-US" sz="1125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Average Horror cost floor under $15M.</a:t>
            </a:r>
            <a:endParaRPr/>
          </a:p>
        </p:txBody>
      </p:sp>
      <p:sp>
        <p:nvSpPr>
          <p:cNvPr id="220" name="Google Shape;220;p20"/>
          <p:cNvSpPr txBox="1"/>
          <p:nvPr/>
        </p:nvSpPr>
        <p:spPr>
          <a:xfrm>
            <a:off x="1066800" y="3922811"/>
            <a:ext cx="4610100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High Downside Floor:</a:t>
            </a:r>
            <a:r>
              <a:rPr b="0" i="0" lang="en-US" sz="1125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25th percentile sits at +5.9% ROI—virtually zero risk of catastrophic studio write-downs.</a:t>
            </a:r>
            <a:endParaRPr/>
          </a:p>
        </p:txBody>
      </p:sp>
      <p:sp>
        <p:nvSpPr>
          <p:cNvPr id="221" name="Google Shape;221;p20"/>
          <p:cNvSpPr txBox="1"/>
          <p:nvPr/>
        </p:nvSpPr>
        <p:spPr>
          <a:xfrm>
            <a:off x="1066800" y="4465736"/>
            <a:ext cx="4610100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Animation Stability:</a:t>
            </a:r>
            <a:r>
              <a:rPr b="0" i="0" lang="en-US" sz="1125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25th percentile at +12.2%, making family remakes the safest investment vehicle.</a:t>
            </a:r>
            <a:endParaRPr/>
          </a:p>
        </p:txBody>
      </p:sp>
      <p:pic>
        <p:nvPicPr>
          <p:cNvPr descr="image.png" id="222" name="Google Shape;222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515100" y="2476053"/>
            <a:ext cx="209550" cy="209550"/>
          </a:xfrm>
          <a:prstGeom prst="rect">
            <a:avLst/>
          </a:prstGeom>
          <a:noFill/>
          <a:ln>
            <a:noFill/>
          </a:ln>
        </p:spPr>
      </p:pic>
      <p:sp>
        <p:nvSpPr>
          <p:cNvPr id="223" name="Google Shape;223;p20"/>
          <p:cNvSpPr txBox="1"/>
          <p:nvPr/>
        </p:nvSpPr>
        <p:spPr>
          <a:xfrm>
            <a:off x="6724650" y="3365599"/>
            <a:ext cx="4610100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Action Volatility:</a:t>
            </a:r>
            <a:r>
              <a:rPr b="0" i="0" lang="en-US" sz="1125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Produces massive outlier hits (+738% max ROI), but bottom 25% of titles fail to break even (-5.0% ROI).</a:t>
            </a:r>
            <a:endParaRPr/>
          </a:p>
        </p:txBody>
      </p:sp>
      <p:sp>
        <p:nvSpPr>
          <p:cNvPr id="224" name="Google Shape;224;p20"/>
          <p:cNvSpPr txBox="1"/>
          <p:nvPr/>
        </p:nvSpPr>
        <p:spPr>
          <a:xfrm>
            <a:off x="6724650" y="3908524"/>
            <a:ext cx="4610100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Drama Underperformance:</a:t>
            </a:r>
            <a:r>
              <a:rPr b="0" i="0" lang="en-US" sz="1125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Lowest median ROI and slowest opening momentum.</a:t>
            </a:r>
            <a:endParaRPr/>
          </a:p>
        </p:txBody>
      </p:sp>
      <p:sp>
        <p:nvSpPr>
          <p:cNvPr id="225" name="Google Shape;225;p20"/>
          <p:cNvSpPr txBox="1"/>
          <p:nvPr/>
        </p:nvSpPr>
        <p:spPr>
          <a:xfrm>
            <a:off x="6724650" y="4451449"/>
            <a:ext cx="4610100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Strategic Rule:</a:t>
            </a:r>
            <a:r>
              <a:rPr b="0" i="0" lang="en-US" sz="1125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Never greenlight standalone mid-budget dramas without streaming pre-sales.</a:t>
            </a:r>
            <a:endParaRPr/>
          </a:p>
        </p:txBody>
      </p:sp>
      <p:sp>
        <p:nvSpPr>
          <p:cNvPr id="226" name="Google Shape;226;p20"/>
          <p:cNvSpPr txBox="1"/>
          <p:nvPr/>
        </p:nvSpPr>
        <p:spPr>
          <a:xfrm>
            <a:off x="857250" y="3594199"/>
            <a:ext cx="142875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/>
          </a:p>
        </p:txBody>
      </p:sp>
      <p:sp>
        <p:nvSpPr>
          <p:cNvPr id="227" name="Google Shape;227;p20"/>
          <p:cNvSpPr txBox="1"/>
          <p:nvPr/>
        </p:nvSpPr>
        <p:spPr>
          <a:xfrm>
            <a:off x="857250" y="3922811"/>
            <a:ext cx="142875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/>
          </a:p>
        </p:txBody>
      </p:sp>
      <p:sp>
        <p:nvSpPr>
          <p:cNvPr id="228" name="Google Shape;228;p20"/>
          <p:cNvSpPr txBox="1"/>
          <p:nvPr/>
        </p:nvSpPr>
        <p:spPr>
          <a:xfrm>
            <a:off x="857250" y="4465736"/>
            <a:ext cx="142875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/>
          </a:p>
        </p:txBody>
      </p:sp>
      <p:sp>
        <p:nvSpPr>
          <p:cNvPr id="229" name="Google Shape;229;p20"/>
          <p:cNvSpPr txBox="1"/>
          <p:nvPr/>
        </p:nvSpPr>
        <p:spPr>
          <a:xfrm>
            <a:off x="6515100" y="3365599"/>
            <a:ext cx="142875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/>
          </a:p>
        </p:txBody>
      </p:sp>
      <p:sp>
        <p:nvSpPr>
          <p:cNvPr id="230" name="Google Shape;230;p20"/>
          <p:cNvSpPr txBox="1"/>
          <p:nvPr/>
        </p:nvSpPr>
        <p:spPr>
          <a:xfrm>
            <a:off x="6515100" y="3908524"/>
            <a:ext cx="142875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/>
          </a:p>
        </p:txBody>
      </p:sp>
      <p:sp>
        <p:nvSpPr>
          <p:cNvPr id="231" name="Google Shape;231;p20"/>
          <p:cNvSpPr txBox="1"/>
          <p:nvPr/>
        </p:nvSpPr>
        <p:spPr>
          <a:xfrm>
            <a:off x="6515100" y="4451449"/>
            <a:ext cx="142875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/>
          </a:p>
        </p:txBody>
      </p:sp>
      <p:sp>
        <p:nvSpPr>
          <p:cNvPr id="232" name="Google Shape;232;p20"/>
          <p:cNvSpPr txBox="1"/>
          <p:nvPr/>
        </p:nvSpPr>
        <p:spPr>
          <a:xfrm>
            <a:off x="581025" y="485775"/>
            <a:ext cx="11581447" cy="38859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550" u="none" cap="none" strike="noStrike">
                <a:solidFill>
                  <a:srgbClr val="F8FAFC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Genre Risk Profile &amp; Margin Efficiency</a:t>
            </a:r>
            <a:endParaRPr/>
          </a:p>
        </p:txBody>
      </p:sp>
      <p:sp>
        <p:nvSpPr>
          <p:cNvPr id="233" name="Google Shape;233;p20"/>
          <p:cNvSpPr/>
          <p:nvPr/>
        </p:nvSpPr>
        <p:spPr>
          <a:xfrm>
            <a:off x="581025" y="874365"/>
            <a:ext cx="47625" cy="2667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32B"/>
        </a:solidFill>
      </p:bgPr>
    </p:bg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38" name="Google Shape;238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9" name="Google Shape;239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3718470"/>
            <a:ext cx="11029950" cy="38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0" name="Google Shape;240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81025" y="3947070"/>
            <a:ext cx="2426493" cy="108346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1" name="Google Shape;241;p2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448794" y="2271266"/>
            <a:ext cx="2426493" cy="12567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2" name="Google Shape;242;p2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316563" y="3947070"/>
            <a:ext cx="2426493" cy="12567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3" name="Google Shape;243;p2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184332" y="2271266"/>
            <a:ext cx="2426493" cy="1256704"/>
          </a:xfrm>
          <a:prstGeom prst="rect">
            <a:avLst/>
          </a:prstGeom>
          <a:noFill/>
          <a:ln>
            <a:noFill/>
          </a:ln>
        </p:spPr>
      </p:pic>
      <p:sp>
        <p:nvSpPr>
          <p:cNvPr id="244" name="Google Shape;244;p21"/>
          <p:cNvSpPr txBox="1"/>
          <p:nvPr/>
        </p:nvSpPr>
        <p:spPr>
          <a:xfrm>
            <a:off x="690383" y="4108995"/>
            <a:ext cx="2207775" cy="182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8BDF8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Q1: Horror Remake</a:t>
            </a:r>
            <a:endParaRPr/>
          </a:p>
        </p:txBody>
      </p:sp>
      <p:sp>
        <p:nvSpPr>
          <p:cNvPr id="245" name="Google Shape;245;p21"/>
          <p:cNvSpPr txBox="1"/>
          <p:nvPr/>
        </p:nvSpPr>
        <p:spPr>
          <a:xfrm>
            <a:off x="742950" y="4348906"/>
            <a:ext cx="2102643" cy="51970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Low-budget classic IP ($15M–$20M). High margin target to establish positive FY cash flow.</a:t>
            </a:r>
            <a:endParaRPr/>
          </a:p>
        </p:txBody>
      </p:sp>
      <p:sp>
        <p:nvSpPr>
          <p:cNvPr id="246" name="Google Shape;246;p21"/>
          <p:cNvSpPr txBox="1"/>
          <p:nvPr/>
        </p:nvSpPr>
        <p:spPr>
          <a:xfrm>
            <a:off x="3558153" y="2433191"/>
            <a:ext cx="2207775" cy="182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8BDF8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Q2: Summer Tentpole</a:t>
            </a:r>
            <a:endParaRPr/>
          </a:p>
        </p:txBody>
      </p:sp>
      <p:sp>
        <p:nvSpPr>
          <p:cNvPr id="247" name="Google Shape;247;p21"/>
          <p:cNvSpPr txBox="1"/>
          <p:nvPr/>
        </p:nvSpPr>
        <p:spPr>
          <a:xfrm>
            <a:off x="3610719" y="2673101"/>
            <a:ext cx="2102643" cy="6929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High-budget Action/Adventure remake ($85M–$95M, PG-13) backed by 50% marketing allocation.</a:t>
            </a:r>
            <a:endParaRPr/>
          </a:p>
        </p:txBody>
      </p:sp>
      <p:sp>
        <p:nvSpPr>
          <p:cNvPr id="248" name="Google Shape;248;p21"/>
          <p:cNvSpPr txBox="1"/>
          <p:nvPr/>
        </p:nvSpPr>
        <p:spPr>
          <a:xfrm>
            <a:off x="6425922" y="4108995"/>
            <a:ext cx="2207775" cy="182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8BDF8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Q3: Comedy / Thriller</a:t>
            </a:r>
            <a:endParaRPr/>
          </a:p>
        </p:txBody>
      </p:sp>
      <p:sp>
        <p:nvSpPr>
          <p:cNvPr id="249" name="Google Shape;249;p21"/>
          <p:cNvSpPr txBox="1"/>
          <p:nvPr/>
        </p:nvSpPr>
        <p:spPr>
          <a:xfrm>
            <a:off x="6478488" y="4348906"/>
            <a:ext cx="2102643" cy="6929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Counter-programming release ($25M–$35M) targeting adult demographic with strong digital push.</a:t>
            </a:r>
            <a:endParaRPr/>
          </a:p>
        </p:txBody>
      </p:sp>
      <p:sp>
        <p:nvSpPr>
          <p:cNvPr id="250" name="Google Shape;250;p21"/>
          <p:cNvSpPr txBox="1"/>
          <p:nvPr/>
        </p:nvSpPr>
        <p:spPr>
          <a:xfrm>
            <a:off x="9293691" y="2433191"/>
            <a:ext cx="2207775" cy="182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8BDF8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Q4: Holiday Animation</a:t>
            </a:r>
            <a:endParaRPr/>
          </a:p>
        </p:txBody>
      </p:sp>
      <p:sp>
        <p:nvSpPr>
          <p:cNvPr id="251" name="Google Shape;251;p21"/>
          <p:cNvSpPr txBox="1"/>
          <p:nvPr/>
        </p:nvSpPr>
        <p:spPr>
          <a:xfrm>
            <a:off x="9346257" y="2673101"/>
            <a:ext cx="2102643" cy="6929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Family catalog remake ($70M–$80M, PG) driving global merchandising and 4-week box office legs.</a:t>
            </a:r>
            <a:endParaRPr/>
          </a:p>
        </p:txBody>
      </p:sp>
      <p:sp>
        <p:nvSpPr>
          <p:cNvPr id="252" name="Google Shape;252;p21"/>
          <p:cNvSpPr txBox="1"/>
          <p:nvPr/>
        </p:nvSpPr>
        <p:spPr>
          <a:xfrm>
            <a:off x="581025" y="485775"/>
            <a:ext cx="11581447" cy="38859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550" u="none" cap="none" strike="noStrike">
                <a:solidFill>
                  <a:srgbClr val="F8FAFC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Mega-Pik Annual Slate Roadmap (2+4 Model)</a:t>
            </a:r>
            <a:endParaRPr/>
          </a:p>
        </p:txBody>
      </p:sp>
      <p:sp>
        <p:nvSpPr>
          <p:cNvPr id="253" name="Google Shape;253;p21"/>
          <p:cNvSpPr/>
          <p:nvPr/>
        </p:nvSpPr>
        <p:spPr>
          <a:xfrm>
            <a:off x="581025" y="874365"/>
            <a:ext cx="47625" cy="2667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21"/>
          <p:cNvSpPr/>
          <p:nvPr/>
        </p:nvSpPr>
        <p:spPr>
          <a:xfrm>
            <a:off x="1699021" y="3642270"/>
            <a:ext cx="190500" cy="190500"/>
          </a:xfrm>
          <a:prstGeom prst="roundRect">
            <a:avLst>
              <a:gd fmla="val 50000" name="adj"/>
            </a:avLst>
          </a:prstGeom>
          <a:solidFill>
            <a:srgbClr val="0B132B"/>
          </a:solidFill>
          <a:ln cap="flat" cmpd="sng" w="28575">
            <a:solidFill>
              <a:srgbClr val="38BD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21"/>
          <p:cNvSpPr/>
          <p:nvPr/>
        </p:nvSpPr>
        <p:spPr>
          <a:xfrm>
            <a:off x="4566791" y="3642270"/>
            <a:ext cx="190500" cy="190500"/>
          </a:xfrm>
          <a:prstGeom prst="roundRect">
            <a:avLst>
              <a:gd fmla="val 50000" name="adj"/>
            </a:avLst>
          </a:prstGeom>
          <a:solidFill>
            <a:srgbClr val="0B132B"/>
          </a:solidFill>
          <a:ln cap="flat" cmpd="sng" w="28575">
            <a:solidFill>
              <a:srgbClr val="38BD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21"/>
          <p:cNvSpPr/>
          <p:nvPr/>
        </p:nvSpPr>
        <p:spPr>
          <a:xfrm>
            <a:off x="7434560" y="3642270"/>
            <a:ext cx="190500" cy="190500"/>
          </a:xfrm>
          <a:prstGeom prst="roundRect">
            <a:avLst>
              <a:gd fmla="val 50000" name="adj"/>
            </a:avLst>
          </a:prstGeom>
          <a:solidFill>
            <a:srgbClr val="0B132B"/>
          </a:solidFill>
          <a:ln cap="flat" cmpd="sng" w="28575">
            <a:solidFill>
              <a:srgbClr val="38BD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21"/>
          <p:cNvSpPr/>
          <p:nvPr/>
        </p:nvSpPr>
        <p:spPr>
          <a:xfrm>
            <a:off x="10302329" y="3642270"/>
            <a:ext cx="190500" cy="190500"/>
          </a:xfrm>
          <a:prstGeom prst="roundRect">
            <a:avLst>
              <a:gd fmla="val 50000" name="adj"/>
            </a:avLst>
          </a:prstGeom>
          <a:solidFill>
            <a:srgbClr val="0B132B"/>
          </a:solidFill>
          <a:ln cap="flat" cmpd="sng" w="28575">
            <a:solidFill>
              <a:srgbClr val="38BD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32B"/>
        </a:solidFill>
      </p:bgPr>
    </p:bg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62" name="Google Shape;262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3" name="Google Shape;263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2559397"/>
            <a:ext cx="3524250" cy="235639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4" name="Google Shape;264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33875" y="2559397"/>
            <a:ext cx="3524250" cy="235639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5" name="Google Shape;265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086725" y="2559397"/>
            <a:ext cx="3524250" cy="235639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6" name="Google Shape;266;p2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38200" y="2816572"/>
            <a:ext cx="495300" cy="495300"/>
          </a:xfrm>
          <a:prstGeom prst="rect">
            <a:avLst/>
          </a:prstGeom>
          <a:noFill/>
          <a:ln>
            <a:noFill/>
          </a:ln>
        </p:spPr>
      </p:pic>
      <p:sp>
        <p:nvSpPr>
          <p:cNvPr id="267" name="Google Shape;267;p22"/>
          <p:cNvSpPr txBox="1"/>
          <p:nvPr/>
        </p:nvSpPr>
        <p:spPr>
          <a:xfrm>
            <a:off x="838200" y="3483322"/>
            <a:ext cx="2320290" cy="2513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8BDF8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Catalog IP Selection</a:t>
            </a:r>
            <a:endParaRPr/>
          </a:p>
        </p:txBody>
      </p:sp>
      <p:sp>
        <p:nvSpPr>
          <p:cNvPr id="268" name="Google Shape;268;p22"/>
          <p:cNvSpPr txBox="1"/>
          <p:nvPr/>
        </p:nvSpPr>
        <p:spPr>
          <a:xfrm>
            <a:off x="838200" y="3829942"/>
            <a:ext cx="3009900" cy="828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4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87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Prioritize 1990s–2000s Animation and Adventure properties with built-in nostalgia for tentpoles, and acquire cult Horror IP for high-margin low-cost slates.</a:t>
            </a:r>
            <a:endParaRPr/>
          </a:p>
        </p:txBody>
      </p:sp>
      <p:pic>
        <p:nvPicPr>
          <p:cNvPr descr="image.png" id="269" name="Google Shape;269;p2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591050" y="2816572"/>
            <a:ext cx="495300" cy="495300"/>
          </a:xfrm>
          <a:prstGeom prst="rect">
            <a:avLst/>
          </a:prstGeom>
          <a:noFill/>
          <a:ln>
            <a:noFill/>
          </a:ln>
        </p:spPr>
      </p:pic>
      <p:sp>
        <p:nvSpPr>
          <p:cNvPr id="270" name="Google Shape;270;p22"/>
          <p:cNvSpPr txBox="1"/>
          <p:nvPr/>
        </p:nvSpPr>
        <p:spPr>
          <a:xfrm>
            <a:off x="4591050" y="3483322"/>
            <a:ext cx="2430303" cy="2513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8BDF8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Marketing Allocation</a:t>
            </a:r>
            <a:endParaRPr/>
          </a:p>
        </p:txBody>
      </p:sp>
      <p:sp>
        <p:nvSpPr>
          <p:cNvPr id="271" name="Google Shape;271;p22"/>
          <p:cNvSpPr txBox="1"/>
          <p:nvPr/>
        </p:nvSpPr>
        <p:spPr>
          <a:xfrm>
            <a:off x="4591050" y="3829942"/>
            <a:ext cx="3009900" cy="828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4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87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Enforce mandatory 45%–55% marketing-to-budget ratios. Deploy 60% of marketing spend prior to Thursday night previews to drive opening velocity.</a:t>
            </a:r>
            <a:endParaRPr/>
          </a:p>
        </p:txBody>
      </p:sp>
      <p:pic>
        <p:nvPicPr>
          <p:cNvPr descr="image.png" id="272" name="Google Shape;272;p2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343900" y="2816572"/>
            <a:ext cx="495300" cy="495300"/>
          </a:xfrm>
          <a:prstGeom prst="rect">
            <a:avLst/>
          </a:prstGeom>
          <a:noFill/>
          <a:ln>
            <a:noFill/>
          </a:ln>
        </p:spPr>
      </p:pic>
      <p:sp>
        <p:nvSpPr>
          <p:cNvPr id="273" name="Google Shape;273;p22"/>
          <p:cNvSpPr txBox="1"/>
          <p:nvPr/>
        </p:nvSpPr>
        <p:spPr>
          <a:xfrm>
            <a:off x="8343900" y="3483322"/>
            <a:ext cx="2020252" cy="2513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8BDF8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Portfolio Hedging</a:t>
            </a:r>
            <a:endParaRPr/>
          </a:p>
        </p:txBody>
      </p:sp>
      <p:sp>
        <p:nvSpPr>
          <p:cNvPr id="274" name="Google Shape;274;p22"/>
          <p:cNvSpPr txBox="1"/>
          <p:nvPr/>
        </p:nvSpPr>
        <p:spPr>
          <a:xfrm>
            <a:off x="8343900" y="3829942"/>
            <a:ext cx="3009900" cy="828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4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87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Balance 2 global tentpoles ($80M+) with 4 mid/low-budget genre releases ($15M–$35M) to eliminate single-film solvency risk across the fiscal year.</a:t>
            </a:r>
            <a:endParaRPr/>
          </a:p>
        </p:txBody>
      </p:sp>
      <p:pic>
        <p:nvPicPr>
          <p:cNvPr descr="image.png" id="275" name="Google Shape;275;p22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81075" y="2959447"/>
            <a:ext cx="209550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6" name="Google Shape;276;p22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4733925" y="2959447"/>
            <a:ext cx="209550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7" name="Google Shape;277;p22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8458200" y="2959447"/>
            <a:ext cx="266700" cy="209550"/>
          </a:xfrm>
          <a:prstGeom prst="rect">
            <a:avLst/>
          </a:prstGeom>
          <a:noFill/>
          <a:ln>
            <a:noFill/>
          </a:ln>
        </p:spPr>
      </p:pic>
      <p:sp>
        <p:nvSpPr>
          <p:cNvPr id="278" name="Google Shape;278;p22"/>
          <p:cNvSpPr txBox="1"/>
          <p:nvPr/>
        </p:nvSpPr>
        <p:spPr>
          <a:xfrm>
            <a:off x="581025" y="485775"/>
            <a:ext cx="11581447" cy="38859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550" u="none" cap="none" strike="noStrike">
                <a:solidFill>
                  <a:srgbClr val="F8FAFC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Executive Action Pillars for Mega-Pik</a:t>
            </a:r>
            <a:endParaRPr/>
          </a:p>
        </p:txBody>
      </p:sp>
      <p:sp>
        <p:nvSpPr>
          <p:cNvPr id="279" name="Google Shape;279;p22"/>
          <p:cNvSpPr/>
          <p:nvPr/>
        </p:nvSpPr>
        <p:spPr>
          <a:xfrm>
            <a:off x="581025" y="874365"/>
            <a:ext cx="47625" cy="2667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32B"/>
        </a:solidFill>
      </p:bgPr>
    </p:bg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84" name="Google Shape;284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85" name="Google Shape;285;p23"/>
          <p:cNvSpPr txBox="1"/>
          <p:nvPr/>
        </p:nvSpPr>
        <p:spPr>
          <a:xfrm>
            <a:off x="2190750" y="2516534"/>
            <a:ext cx="7810500" cy="1813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550" u="none" cap="none" strike="noStrike">
                <a:solidFill>
                  <a:srgbClr val="F8FAFC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Great studio turnarounds are built by eliminating downside risk on mid-budget titles while concentrating capital behind proven four-quadrant IP.</a:t>
            </a:r>
            <a:endParaRPr/>
          </a:p>
        </p:txBody>
      </p:sp>
      <p:sp>
        <p:nvSpPr>
          <p:cNvPr id="286" name="Google Shape;286;p23"/>
          <p:cNvSpPr txBox="1"/>
          <p:nvPr/>
        </p:nvSpPr>
        <p:spPr>
          <a:xfrm>
            <a:off x="1809750" y="4558456"/>
            <a:ext cx="85725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8BDF8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Mega-Pik Analytics Framework</a:t>
            </a:r>
            <a:endParaRPr/>
          </a:p>
        </p:txBody>
      </p:sp>
      <p:sp>
        <p:nvSpPr>
          <p:cNvPr id="287" name="Google Shape;287;p23"/>
          <p:cNvSpPr txBox="1"/>
          <p:nvPr/>
        </p:nvSpPr>
        <p:spPr>
          <a:xfrm>
            <a:off x="1809750" y="4796581"/>
            <a:ext cx="857250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Data-Driven Theatrical Optimization &amp; Slate Portfolio Management</a:t>
            </a:r>
            <a:endParaRPr/>
          </a:p>
        </p:txBody>
      </p:sp>
      <p:sp>
        <p:nvSpPr>
          <p:cNvPr id="288" name="Google Shape;288;p23"/>
          <p:cNvSpPr txBox="1"/>
          <p:nvPr/>
        </p:nvSpPr>
        <p:spPr>
          <a:xfrm>
            <a:off x="1714500" y="2326034"/>
            <a:ext cx="380553" cy="981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750" u="none" cap="none" strike="noStrike">
                <a:solidFill>
                  <a:srgbClr val="38BDF8"/>
                </a:solidFill>
                <a:latin typeface="Geo"/>
                <a:ea typeface="Geo"/>
                <a:cs typeface="Geo"/>
                <a:sym typeface="Geo"/>
              </a:rPr>
              <a:t>“</a:t>
            </a:r>
            <a:endParaRPr/>
          </a:p>
        </p:txBody>
      </p:sp>
      <p:sp>
        <p:nvSpPr>
          <p:cNvPr id="289" name="Google Shape;289;p23"/>
          <p:cNvSpPr txBox="1"/>
          <p:nvPr/>
        </p:nvSpPr>
        <p:spPr>
          <a:xfrm>
            <a:off x="10096947" y="3510706"/>
            <a:ext cx="380553" cy="981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750" u="none" cap="none" strike="noStrike">
                <a:solidFill>
                  <a:srgbClr val="38BDF8"/>
                </a:solidFill>
                <a:latin typeface="Geo"/>
                <a:ea typeface="Geo"/>
                <a:cs typeface="Geo"/>
                <a:sym typeface="Geo"/>
              </a:rPr>
              <a:t>”</a:t>
            </a:r>
            <a:endParaRPr/>
          </a:p>
        </p:txBody>
      </p:sp>
      <p:sp>
        <p:nvSpPr>
          <p:cNvPr id="290" name="Google Shape;290;p23"/>
          <p:cNvSpPr txBox="1"/>
          <p:nvPr/>
        </p:nvSpPr>
        <p:spPr>
          <a:xfrm>
            <a:off x="581025" y="485775"/>
            <a:ext cx="11581447" cy="38859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550" u="none" cap="none" strike="noStrike">
                <a:solidFill>
                  <a:srgbClr val="F8FAFC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The Strategic Greenlight Principle</a:t>
            </a:r>
            <a:endParaRPr/>
          </a:p>
        </p:txBody>
      </p:sp>
      <p:sp>
        <p:nvSpPr>
          <p:cNvPr id="291" name="Google Shape;291;p23"/>
          <p:cNvSpPr/>
          <p:nvPr/>
        </p:nvSpPr>
        <p:spPr>
          <a:xfrm>
            <a:off x="581025" y="874365"/>
            <a:ext cx="47625" cy="2667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32B"/>
        </a:solidFill>
      </p:bgPr>
    </p:bg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96" name="Google Shape;296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7" name="Google Shape;297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1261020"/>
            <a:ext cx="7524750" cy="4953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8" name="Google Shape;298;p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372475" y="1891754"/>
            <a:ext cx="3238500" cy="82287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9" name="Google Shape;299;p2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372475" y="2847975"/>
            <a:ext cx="3238500" cy="82287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00" name="Google Shape;300;p2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372475" y="3804195"/>
            <a:ext cx="3238500" cy="82287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01" name="Google Shape;301;p2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372475" y="4760416"/>
            <a:ext cx="3238500" cy="82287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02" name="Google Shape;302;p24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85800" y="1365795"/>
            <a:ext cx="7315200" cy="4743450"/>
          </a:xfrm>
          <a:prstGeom prst="rect">
            <a:avLst/>
          </a:prstGeom>
          <a:noFill/>
          <a:ln>
            <a:noFill/>
          </a:ln>
        </p:spPr>
      </p:pic>
      <p:sp>
        <p:nvSpPr>
          <p:cNvPr id="303" name="Google Shape;303;p24"/>
          <p:cNvSpPr txBox="1"/>
          <p:nvPr/>
        </p:nvSpPr>
        <p:spPr>
          <a:xfrm>
            <a:off x="8562975" y="2034629"/>
            <a:ext cx="3030378" cy="1656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87" u="none" cap="none" strike="noStrike">
                <a:solidFill>
                  <a:srgbClr val="38BDF8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1. Opening Drivers</a:t>
            </a:r>
            <a:endParaRPr/>
          </a:p>
        </p:txBody>
      </p:sp>
      <p:sp>
        <p:nvSpPr>
          <p:cNvPr id="304" name="Google Shape;304;p24"/>
          <p:cNvSpPr txBox="1"/>
          <p:nvPr/>
        </p:nvSpPr>
        <p:spPr>
          <a:xfrm>
            <a:off x="8562975" y="2238375"/>
            <a:ext cx="2886075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37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Thursday previews (r=0.99) &amp; Total Cost (r=0.77) dictate opening 72h velocity.</a:t>
            </a:r>
            <a:endParaRPr/>
          </a:p>
        </p:txBody>
      </p:sp>
      <p:sp>
        <p:nvSpPr>
          <p:cNvPr id="305" name="Google Shape;305;p24"/>
          <p:cNvSpPr txBox="1"/>
          <p:nvPr/>
        </p:nvSpPr>
        <p:spPr>
          <a:xfrm>
            <a:off x="8562975" y="2990850"/>
            <a:ext cx="3030378" cy="1656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87" u="none" cap="none" strike="noStrike">
                <a:solidFill>
                  <a:srgbClr val="38BDF8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2. Rating Power</a:t>
            </a:r>
            <a:endParaRPr/>
          </a:p>
        </p:txBody>
      </p:sp>
      <p:sp>
        <p:nvSpPr>
          <p:cNvPr id="306" name="Google Shape;306;p24"/>
          <p:cNvSpPr txBox="1"/>
          <p:nvPr/>
        </p:nvSpPr>
        <p:spPr>
          <a:xfrm>
            <a:off x="8562975" y="3194595"/>
            <a:ext cx="2886075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37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PG-13 &amp; PG ratings capture the vast majority of $100M+ weekend openings.</a:t>
            </a:r>
            <a:endParaRPr/>
          </a:p>
        </p:txBody>
      </p:sp>
      <p:sp>
        <p:nvSpPr>
          <p:cNvPr id="307" name="Google Shape;307;p24"/>
          <p:cNvSpPr txBox="1"/>
          <p:nvPr/>
        </p:nvSpPr>
        <p:spPr>
          <a:xfrm>
            <a:off x="8562975" y="3947070"/>
            <a:ext cx="3030378" cy="1656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87" u="none" cap="none" strike="noStrike">
                <a:solidFill>
                  <a:srgbClr val="38BDF8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3. Genre Volume</a:t>
            </a:r>
            <a:endParaRPr/>
          </a:p>
        </p:txBody>
      </p:sp>
      <p:sp>
        <p:nvSpPr>
          <p:cNvPr id="308" name="Google Shape;308;p24"/>
          <p:cNvSpPr txBox="1"/>
          <p:nvPr/>
        </p:nvSpPr>
        <p:spPr>
          <a:xfrm>
            <a:off x="8562975" y="4150816"/>
            <a:ext cx="2886075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37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Action &amp; Adventure drive gross box office scale ($60M–$72M opening mean).</a:t>
            </a:r>
            <a:endParaRPr/>
          </a:p>
        </p:txBody>
      </p:sp>
      <p:sp>
        <p:nvSpPr>
          <p:cNvPr id="309" name="Google Shape;309;p24"/>
          <p:cNvSpPr txBox="1"/>
          <p:nvPr/>
        </p:nvSpPr>
        <p:spPr>
          <a:xfrm>
            <a:off x="8562975" y="4903291"/>
            <a:ext cx="3030378" cy="1656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87" u="none" cap="none" strike="noStrike">
                <a:solidFill>
                  <a:srgbClr val="38BDF8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4. Downside Floor</a:t>
            </a:r>
            <a:endParaRPr/>
          </a:p>
        </p:txBody>
      </p:sp>
      <p:sp>
        <p:nvSpPr>
          <p:cNvPr id="310" name="Google Shape;310;p24"/>
          <p:cNvSpPr txBox="1"/>
          <p:nvPr/>
        </p:nvSpPr>
        <p:spPr>
          <a:xfrm>
            <a:off x="8562975" y="5107037"/>
            <a:ext cx="2886075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37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Horror &amp; Animation provide near-zero capital loss risk (25th %ile &gt; 0% ROI).</a:t>
            </a:r>
            <a:endParaRPr/>
          </a:p>
        </p:txBody>
      </p:sp>
      <p:sp>
        <p:nvSpPr>
          <p:cNvPr id="311" name="Google Shape;311;p24"/>
          <p:cNvSpPr txBox="1"/>
          <p:nvPr/>
        </p:nvSpPr>
        <p:spPr>
          <a:xfrm>
            <a:off x="581025" y="485775"/>
            <a:ext cx="11581447" cy="38859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550" u="none" cap="none" strike="noStrike">
                <a:solidFill>
                  <a:srgbClr val="F8FAFC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Executive EDA Visual Dashboard</a:t>
            </a:r>
            <a:endParaRPr/>
          </a:p>
        </p:txBody>
      </p:sp>
      <p:sp>
        <p:nvSpPr>
          <p:cNvPr id="312" name="Google Shape;312;p24"/>
          <p:cNvSpPr/>
          <p:nvPr/>
        </p:nvSpPr>
        <p:spPr>
          <a:xfrm>
            <a:off x="581025" y="874365"/>
            <a:ext cx="47625" cy="2667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32B"/>
        </a:solidFill>
      </p:bgPr>
    </p:bg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17" name="Google Shape;317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18" name="Google Shape;318;p25"/>
          <p:cNvSpPr txBox="1"/>
          <p:nvPr/>
        </p:nvSpPr>
        <p:spPr>
          <a:xfrm>
            <a:off x="2315527" y="2277367"/>
            <a:ext cx="7560945" cy="7314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997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800" u="none" cap="none" strike="noStrike">
                <a:solidFill>
                  <a:srgbClr val="F8FAFC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Questions &amp; Discussion</a:t>
            </a:r>
            <a:endParaRPr/>
          </a:p>
        </p:txBody>
      </p:sp>
      <p:sp>
        <p:nvSpPr>
          <p:cNvPr id="319" name="Google Shape;319;p25"/>
          <p:cNvSpPr txBox="1"/>
          <p:nvPr/>
        </p:nvSpPr>
        <p:spPr>
          <a:xfrm>
            <a:off x="3000375" y="3123158"/>
            <a:ext cx="61912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Empowering Mega-Pik's Greenlight Committee with predictive box-office intelligence.</a:t>
            </a:r>
            <a:endParaRPr/>
          </a:p>
        </p:txBody>
      </p:sp>
      <p:pic>
        <p:nvPicPr>
          <p:cNvPr descr="image.png" id="320" name="Google Shape;320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686050" y="4037558"/>
            <a:ext cx="6819900" cy="542925"/>
          </a:xfrm>
          <a:prstGeom prst="rect">
            <a:avLst/>
          </a:prstGeom>
          <a:noFill/>
          <a:ln>
            <a:noFill/>
          </a:ln>
        </p:spPr>
      </p:pic>
      <p:sp>
        <p:nvSpPr>
          <p:cNvPr id="321" name="Google Shape;321;p25"/>
          <p:cNvSpPr txBox="1"/>
          <p:nvPr/>
        </p:nvSpPr>
        <p:spPr>
          <a:xfrm>
            <a:off x="3257550" y="4218533"/>
            <a:ext cx="1476375" cy="1809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500-Film EDA Dataset</a:t>
            </a:r>
            <a:endParaRPr/>
          </a:p>
        </p:txBody>
      </p:sp>
      <p:sp>
        <p:nvSpPr>
          <p:cNvPr id="322" name="Google Shape;322;p25"/>
          <p:cNvSpPr txBox="1"/>
          <p:nvPr/>
        </p:nvSpPr>
        <p:spPr>
          <a:xfrm>
            <a:off x="5334000" y="4218533"/>
            <a:ext cx="1123950" cy="1809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2+4 Slate Model</a:t>
            </a:r>
            <a:endParaRPr/>
          </a:p>
        </p:txBody>
      </p:sp>
      <p:sp>
        <p:nvSpPr>
          <p:cNvPr id="323" name="Google Shape;323;p25"/>
          <p:cNvSpPr txBox="1"/>
          <p:nvPr/>
        </p:nvSpPr>
        <p:spPr>
          <a:xfrm>
            <a:off x="7038975" y="4218533"/>
            <a:ext cx="2114550" cy="1809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analytics@megapik-studio.com</a:t>
            </a:r>
            <a:endParaRPr/>
          </a:p>
        </p:txBody>
      </p:sp>
      <p:pic>
        <p:nvPicPr>
          <p:cNvPr descr="image.png" id="324" name="Google Shape;324;p2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038475" y="4237583"/>
            <a:ext cx="12382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25" name="Google Shape;325;p2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076825" y="4237583"/>
            <a:ext cx="16192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26" name="Google Shape;326;p2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800850" y="4237583"/>
            <a:ext cx="142875" cy="142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32B"/>
        </a:solidFill>
      </p:bgPr>
    </p:bg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31" name="Google Shape;331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32" name="Google Shape;332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3499395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33" name="Google Shape;333;p26"/>
          <p:cNvSpPr txBox="1"/>
          <p:nvPr/>
        </p:nvSpPr>
        <p:spPr>
          <a:xfrm>
            <a:off x="1676400" y="3413670"/>
            <a:ext cx="9934575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https://img.magnific.com/premium-photo/cinematic-studio-setup-with-dramatic-lighting-smoky-atmosphere-professional-photography-videography-production_1335075-32683.jpg?semt=ais_hybrid&amp;w=740&amp;q=80</a:t>
            </a:r>
            <a:endParaRPr/>
          </a:p>
        </p:txBody>
      </p:sp>
      <p:sp>
        <p:nvSpPr>
          <p:cNvPr id="334" name="Google Shape;334;p26"/>
          <p:cNvSpPr txBox="1"/>
          <p:nvPr/>
        </p:nvSpPr>
        <p:spPr>
          <a:xfrm>
            <a:off x="1676400" y="3832770"/>
            <a:ext cx="993457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www.magnific.com</a:t>
            </a:r>
            <a:endParaRPr/>
          </a:p>
        </p:txBody>
      </p:sp>
      <p:sp>
        <p:nvSpPr>
          <p:cNvPr id="335" name="Google Shape;335;p26"/>
          <p:cNvSpPr txBox="1"/>
          <p:nvPr/>
        </p:nvSpPr>
        <p:spPr>
          <a:xfrm>
            <a:off x="581025" y="485775"/>
            <a:ext cx="11581447" cy="38859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550" u="none" cap="none" strike="noStrike">
                <a:solidFill>
                  <a:srgbClr val="F8FAFC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Image Sources</a:t>
            </a:r>
            <a:endParaRPr/>
          </a:p>
        </p:txBody>
      </p:sp>
      <p:sp>
        <p:nvSpPr>
          <p:cNvPr id="336" name="Google Shape;336;p26"/>
          <p:cNvSpPr/>
          <p:nvPr/>
        </p:nvSpPr>
        <p:spPr>
          <a:xfrm>
            <a:off x="581025" y="874365"/>
            <a:ext cx="47625" cy="2667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